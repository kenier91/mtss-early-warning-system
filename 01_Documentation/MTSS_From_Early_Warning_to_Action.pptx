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Y5/Cc1VUy8ky/mKqN+dSVW3Uz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226454-313F-46BB-B241-8E902FAE17D3}">
  <a:tblStyle styleId="{17226454-313F-46BB-B241-8E902FAE17D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f8ae63ca14_30_8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f8ae63ca14_30_8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8ae63ca14_30_17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f8ae63ca14_30_17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g3f8ae63ca14_30_14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9" name="Google Shape;409;g3f8ae63ca14_30_14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f8ae63ca14_114_6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f8ae63ca14_114_6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3f8ae63ca14_114_8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3f8ae63ca14_114_8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f8ae63ca14_114_1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6" name="Google Shape;686;g3f8ae63ca14_114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slow" p14:dur="10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hyperlink" Target="https://drive.google.com/file/d/10ooq0zcdob2FNFDIlUWLo3ENPAmMVxgv/view?usp=sharing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docs.google.com/spreadsheets/d/1gCuNxJWGDF628e5O-f76UddNXSZzLnUa/edit?usp=sharing&amp;ouid=113298916284473408724&amp;rtpof=true&amp;sd=true" TargetMode="External"/><Relationship Id="rId4" Type="http://schemas.openxmlformats.org/officeDocument/2006/relationships/hyperlink" Target="https://docs.google.com/spreadsheets/d/1Ta85tgFmK-H76KYEsMwrvGSK1SeQTV9j/edit?usp=sharing&amp;ouid=113298916284473408724&amp;rtpof=true&amp;sd=true" TargetMode="External"/><Relationship Id="rId11" Type="http://schemas.openxmlformats.org/officeDocument/2006/relationships/hyperlink" Target="https://docs.google.com/spreadsheets/d/1y--1lahuWuCghKSWQtwmUiiZEDtwhfZU/edit?usp=sharing&amp;ouid=113298916284473408724&amp;rtpof=true&amp;sd=true" TargetMode="External"/><Relationship Id="rId10" Type="http://schemas.openxmlformats.org/officeDocument/2006/relationships/hyperlink" Target="https://docs.google.com/spreadsheets/d/1Znt6sbWL7xfeh4pAMAsl6JrAUKmtRM0Y/edit?usp=sharing&amp;ouid=113298916284473408724&amp;rtpof=true&amp;sd=true" TargetMode="External"/><Relationship Id="rId12" Type="http://schemas.openxmlformats.org/officeDocument/2006/relationships/hyperlink" Target="https://docs.google.com/spreadsheets/d/1WTNesNSaelpQ6rP2BHO6UI3X5hF51xiA/edit?usp=sharing&amp;ouid=113298916284473408724&amp;rtpof=true&amp;sd=true" TargetMode="External"/><Relationship Id="rId9" Type="http://schemas.openxmlformats.org/officeDocument/2006/relationships/hyperlink" Target="https://docs.google.com/spreadsheets/d/1-Q-_MH_QDcYTDZ1yyoCI1my7ONrz_shz/edit?usp=sharing&amp;ouid=113298916284473408724&amp;rtpof=true&amp;sd=true" TargetMode="External"/><Relationship Id="rId5" Type="http://schemas.openxmlformats.org/officeDocument/2006/relationships/hyperlink" Target="https://docs.google.com/spreadsheets/d/1Ta85tgFmK-H76KYEsMwrvGSK1SeQTV9j/edit?usp=sharing&amp;ouid=113298916284473408724&amp;rtpof=true&amp;sd=true" TargetMode="External"/><Relationship Id="rId6" Type="http://schemas.openxmlformats.org/officeDocument/2006/relationships/hyperlink" Target="https://docs.google.com/spreadsheets/d/1Ta85tgFmK-H76KYEsMwrvGSK1SeQTV9j/edit?usp=sharing&amp;ouid=113298916284473408724&amp;rtpof=true&amp;sd=true" TargetMode="External"/><Relationship Id="rId7" Type="http://schemas.openxmlformats.org/officeDocument/2006/relationships/hyperlink" Target="https://docs.google.com/spreadsheets/d/1Ta85tgFmK-H76KYEsMwrvGSK1SeQTV9j/edit?usp=sharing&amp;ouid=113298916284473408724&amp;rtpof=true&amp;sd=true" TargetMode="External"/><Relationship Id="rId8" Type="http://schemas.openxmlformats.org/officeDocument/2006/relationships/hyperlink" Target="https://docs.google.com/spreadsheets/d/1-Q-_MH_QDcYTDZ1yyoCI1my7ONrz_shz/edit?usp=sharing&amp;ouid=113298916284473408724&amp;rtpof=true&amp;sd=true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ocs.google.com/spreadsheets/d/16bua4fAL9s5M4oDkyTsq27e5-VhHGENe/edit?usp=sharing&amp;ouid=113298916284473408724&amp;rtpof=true&amp;sd=true" TargetMode="External"/><Relationship Id="rId4" Type="http://schemas.openxmlformats.org/officeDocument/2006/relationships/hyperlink" Target="https://docs.google.com/spreadsheets/d/16bua4fAL9s5M4oDkyTsq27e5-VhHGENe/edit?usp=sharing&amp;ouid=113298916284473408724&amp;rtpof=true&amp;sd=true" TargetMode="External"/><Relationship Id="rId5" Type="http://schemas.openxmlformats.org/officeDocument/2006/relationships/hyperlink" Target="https://docs.google.com/spreadsheets/d/16bua4fAL9s5M4oDkyTsq27e5-VhHGENe/edit?usp=sharing&amp;ouid=113298916284473408724&amp;rtpof=true&amp;sd=true" TargetMode="External"/><Relationship Id="rId6" Type="http://schemas.openxmlformats.org/officeDocument/2006/relationships/hyperlink" Target="https://docs.google.com/spreadsheets/d/11i-08v6vrMMeAboINs_e9yom0nVkHtIL/edit?usp=sharing&amp;ouid=113298916284473408724&amp;rtpof=true&amp;sd=true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8.png"/><Relationship Id="rId4" Type="http://schemas.openxmlformats.org/officeDocument/2006/relationships/image" Target="../media/image17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571500" y="476250"/>
            <a:ext cx="11049000" cy="1047900"/>
            <a:chOff x="0" y="0"/>
            <a:chExt cx="11049000" cy="1047900"/>
          </a:xfrm>
        </p:grpSpPr>
        <p:sp>
          <p:nvSpPr>
            <p:cNvPr id="85" name="Google Shape;85;p1"/>
            <p:cNvSpPr txBox="1"/>
            <p:nvPr/>
          </p:nvSpPr>
          <p:spPr>
            <a:xfrm>
              <a:off x="0" y="0"/>
              <a:ext cx="1104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MTSS: From Early Warning to Action</a:t>
              </a:r>
              <a:endParaRPr b="1" sz="3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An integrated Early Warning System and Intervention Framework</a:t>
              </a:r>
              <a:endParaRPr b="0" sz="15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0" y="809625"/>
              <a:ext cx="1143000" cy="47700"/>
            </a:xfrm>
            <a:prstGeom prst="rect">
              <a:avLst/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1"/>
          <p:cNvGrpSpPr/>
          <p:nvPr/>
        </p:nvGrpSpPr>
        <p:grpSpPr>
          <a:xfrm>
            <a:off x="571500" y="1762125"/>
            <a:ext cx="11049000" cy="2190900"/>
            <a:chOff x="571500" y="1762125"/>
            <a:chExt cx="11049000" cy="2190900"/>
          </a:xfrm>
        </p:grpSpPr>
        <p:grpSp>
          <p:nvGrpSpPr>
            <p:cNvPr id="88" name="Google Shape;88;p1"/>
            <p:cNvGrpSpPr/>
            <p:nvPr/>
          </p:nvGrpSpPr>
          <p:grpSpPr>
            <a:xfrm>
              <a:off x="571500" y="1762125"/>
              <a:ext cx="3429000" cy="2190900"/>
              <a:chOff x="0" y="0"/>
              <a:chExt cx="3429000" cy="2190900"/>
            </a:xfrm>
          </p:grpSpPr>
          <p:sp>
            <p:nvSpPr>
              <p:cNvPr id="89" name="Google Shape;89;p1"/>
              <p:cNvSpPr/>
              <p:nvPr/>
            </p:nvSpPr>
            <p:spPr>
              <a:xfrm>
                <a:off x="0" y="0"/>
                <a:ext cx="3429000" cy="2190900"/>
              </a:xfrm>
              <a:prstGeom prst="roundRect">
                <a:avLst>
                  <a:gd fmla="val 6956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"/>
              <p:cNvSpPr/>
              <p:nvPr/>
            </p:nvSpPr>
            <p:spPr>
              <a:xfrm>
                <a:off x="0" y="0"/>
                <a:ext cx="762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3D89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"/>
              <p:cNvSpPr txBox="1"/>
              <p:nvPr/>
            </p:nvSpPr>
            <p:spPr>
              <a:xfrm>
                <a:off x="285750" y="190500"/>
                <a:ext cx="28575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ACADEMIC</a:t>
                </a:r>
                <a:endParaRPr b="1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Monitors performance standards, course grades, and core educational milestones to identify learning gaps early.</a:t>
                </a:r>
                <a:endParaRPr sz="12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2" name="Google Shape;92;p1"/>
            <p:cNvGrpSpPr/>
            <p:nvPr/>
          </p:nvGrpSpPr>
          <p:grpSpPr>
            <a:xfrm>
              <a:off x="4381500" y="1762125"/>
              <a:ext cx="3429000" cy="2190900"/>
              <a:chOff x="0" y="0"/>
              <a:chExt cx="3429000" cy="2190900"/>
            </a:xfrm>
          </p:grpSpPr>
          <p:sp>
            <p:nvSpPr>
              <p:cNvPr id="93" name="Google Shape;93;p1"/>
              <p:cNvSpPr/>
              <p:nvPr/>
            </p:nvSpPr>
            <p:spPr>
              <a:xfrm>
                <a:off x="0" y="0"/>
                <a:ext cx="3429000" cy="2190900"/>
              </a:xfrm>
              <a:prstGeom prst="roundRect">
                <a:avLst>
                  <a:gd fmla="val 6956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1"/>
              <p:cNvSpPr/>
              <p:nvPr/>
            </p:nvSpPr>
            <p:spPr>
              <a:xfrm>
                <a:off x="0" y="0"/>
                <a:ext cx="762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9900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1"/>
              <p:cNvSpPr txBox="1"/>
              <p:nvPr/>
            </p:nvSpPr>
            <p:spPr>
              <a:xfrm>
                <a:off x="285750" y="190500"/>
                <a:ext cx="28575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BEHAVIOR</a:t>
                </a:r>
                <a:endParaRPr b="1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Tracks incident volume, referrals, and behavioral patterns to provide timely social-emotional and conduct support.</a:t>
                </a:r>
                <a:endParaRPr sz="12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6" name="Google Shape;96;p1"/>
            <p:cNvGrpSpPr/>
            <p:nvPr/>
          </p:nvGrpSpPr>
          <p:grpSpPr>
            <a:xfrm>
              <a:off x="8191500" y="1762125"/>
              <a:ext cx="3429000" cy="2190900"/>
              <a:chOff x="0" y="0"/>
              <a:chExt cx="3429000" cy="2190900"/>
            </a:xfrm>
          </p:grpSpPr>
          <p:sp>
            <p:nvSpPr>
              <p:cNvPr id="97" name="Google Shape;97;p1"/>
              <p:cNvSpPr/>
              <p:nvPr/>
            </p:nvSpPr>
            <p:spPr>
              <a:xfrm>
                <a:off x="0" y="0"/>
                <a:ext cx="3429000" cy="2190900"/>
              </a:xfrm>
              <a:prstGeom prst="roundRect">
                <a:avLst>
                  <a:gd fmla="val 6956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1"/>
              <p:cNvSpPr/>
              <p:nvPr/>
            </p:nvSpPr>
            <p:spPr>
              <a:xfrm>
                <a:off x="0" y="0"/>
                <a:ext cx="76200" cy="2190900"/>
              </a:xfrm>
              <a:prstGeom prst="roundRect">
                <a:avLst>
                  <a:gd fmla="val 50000" name="adj"/>
                </a:avLst>
              </a:prstGeom>
              <a:solidFill>
                <a:srgbClr val="2D63A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1"/>
              <p:cNvSpPr txBox="1"/>
              <p:nvPr/>
            </p:nvSpPr>
            <p:spPr>
              <a:xfrm>
                <a:off x="285750" y="190500"/>
                <a:ext cx="2857500" cy="180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20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ATTENDANCE</a:t>
                </a:r>
                <a:endParaRPr b="1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750"/>
                  </a:spcBef>
                  <a:spcAft>
                    <a:spcPts val="0"/>
                  </a:spcAft>
                  <a:buNone/>
                </a:pPr>
                <a:r>
                  <a:rPr lang="en-US" sz="12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Analyzes daily presence rates and enrollment periods to proactively address chronic absenteeism.</a:t>
                </a:r>
                <a:endParaRPr sz="12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00" name="Google Shape;100;p1"/>
          <p:cNvGrpSpPr/>
          <p:nvPr/>
        </p:nvGrpSpPr>
        <p:grpSpPr>
          <a:xfrm>
            <a:off x="571500" y="4435978"/>
            <a:ext cx="11049000" cy="1143000"/>
            <a:chOff x="0" y="0"/>
            <a:chExt cx="11049000" cy="1143000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11049000" cy="1143000"/>
            </a:xfrm>
            <a:prstGeom prst="roundRect">
              <a:avLst>
                <a:gd fmla="val 13333" name="adj"/>
              </a:avLst>
            </a:prstGeom>
            <a:solidFill>
              <a:srgbClr val="14243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00"/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190500" y="192213"/>
              <a:ext cx="106680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96C0FF"/>
                  </a:solidFill>
                  <a:latin typeface="Calibri"/>
                  <a:ea typeface="Calibri"/>
                  <a:cs typeface="Calibri"/>
                  <a:sym typeface="Calibri"/>
                </a:rPr>
                <a:t>Integrated System Workflow</a:t>
              </a:r>
              <a:endParaRPr b="1">
                <a:solidFill>
                  <a:srgbClr val="96C0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Student Risk Analysis</a:t>
              </a:r>
              <a:r>
                <a:rPr b="0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 ➔  </a:t>
              </a: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Tiering</a:t>
              </a:r>
              <a:r>
                <a:rPr b="0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 ➔  </a:t>
              </a: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Decision Center</a:t>
              </a:r>
              <a:r>
                <a:rPr b="0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 ➔  </a:t>
              </a: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 Center</a:t>
              </a:r>
              <a:r>
                <a:rPr b="0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 ➔  </a:t>
              </a:r>
              <a:r>
                <a:rPr b="1" lang="en-US"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Response To Interventions (RTI)</a:t>
              </a:r>
              <a:endParaRPr b="0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571500" y="6014455"/>
            <a:ext cx="11049000" cy="571500"/>
            <a:chOff x="0" y="394705"/>
            <a:chExt cx="11049000" cy="571500"/>
          </a:xfrm>
        </p:grpSpPr>
        <p:sp>
          <p:nvSpPr>
            <p:cNvPr id="104" name="Google Shape;104;p1"/>
            <p:cNvSpPr txBox="1"/>
            <p:nvPr/>
          </p:nvSpPr>
          <p:spPr>
            <a:xfrm>
              <a:off x="0" y="394705"/>
              <a:ext cx="571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7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Author: </a:t>
              </a:r>
              <a:r>
                <a:rPr b="0" lang="en-US" sz="17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Kenier Ramirez</a:t>
              </a:r>
              <a:endParaRPr b="1" sz="17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</a:t>
              </a:r>
              <a:r>
                <a:rPr lang="en-US" sz="16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M.Sc. in Data Analytics</a:t>
              </a:r>
              <a:endParaRPr sz="16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5334000" y="489955"/>
              <a:ext cx="5715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5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MTSS • Early Warning to Action </a:t>
              </a:r>
              <a:endParaRPr sz="15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g3f8ae63ca14_30_867"/>
          <p:cNvGrpSpPr/>
          <p:nvPr/>
        </p:nvGrpSpPr>
        <p:grpSpPr>
          <a:xfrm>
            <a:off x="762000" y="571500"/>
            <a:ext cx="10668000" cy="1047900"/>
            <a:chOff x="0" y="0"/>
            <a:chExt cx="10668000" cy="1047900"/>
          </a:xfrm>
        </p:grpSpPr>
        <p:sp>
          <p:nvSpPr>
            <p:cNvPr id="111" name="Google Shape;111;g3f8ae63ca14_30_867"/>
            <p:cNvSpPr txBox="1"/>
            <p:nvPr/>
          </p:nvSpPr>
          <p:spPr>
            <a:xfrm>
              <a:off x="0" y="0"/>
              <a:ext cx="1066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Multi-Tier System of Support (MTSS)</a:t>
              </a:r>
              <a:endParaRPr b="1" sz="3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A framework for delivering targeted, tiered interventions to meet student needs</a:t>
              </a:r>
              <a:endParaRPr b="0" sz="15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2" name="Google Shape;112;g3f8ae63ca14_30_867"/>
            <p:cNvSpPr/>
            <p:nvPr/>
          </p:nvSpPr>
          <p:spPr>
            <a:xfrm>
              <a:off x="0" y="876300"/>
              <a:ext cx="1143000" cy="47700"/>
            </a:xfrm>
            <a:prstGeom prst="rect">
              <a:avLst/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" name="Google Shape;113;g3f8ae63ca14_30_867"/>
          <p:cNvGrpSpPr/>
          <p:nvPr/>
        </p:nvGrpSpPr>
        <p:grpSpPr>
          <a:xfrm>
            <a:off x="6195952" y="1905000"/>
            <a:ext cx="3901954" cy="1238400"/>
            <a:chOff x="0" y="0"/>
            <a:chExt cx="5524500" cy="1238400"/>
          </a:xfrm>
        </p:grpSpPr>
        <p:sp>
          <p:nvSpPr>
            <p:cNvPr id="114" name="Google Shape;114;g3f8ae63ca14_30_867"/>
            <p:cNvSpPr/>
            <p:nvPr/>
          </p:nvSpPr>
          <p:spPr>
            <a:xfrm>
              <a:off x="0" y="0"/>
              <a:ext cx="5524500" cy="1238400"/>
            </a:xfrm>
            <a:prstGeom prst="roundRect">
              <a:avLst>
                <a:gd fmla="val 12307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g3f8ae63ca14_30_867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fmla="val 50000" name="adj"/>
              </a:avLst>
            </a:pr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g3f8ae63ca14_30_867"/>
            <p:cNvSpPr txBox="1"/>
            <p:nvPr/>
          </p:nvSpPr>
          <p:spPr>
            <a:xfrm>
              <a:off x="285750" y="142875"/>
              <a:ext cx="495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Tier 1: Universal Supports</a:t>
              </a:r>
              <a:endParaRPr b="1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Core classroom instruction, proactive social-emotional learning, and school-wide behavior systems available to all students.</a:t>
              </a:r>
              <a:endParaRPr b="0" sz="12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7" name="Google Shape;117;g3f8ae63ca14_30_867"/>
          <p:cNvGrpSpPr/>
          <p:nvPr/>
        </p:nvGrpSpPr>
        <p:grpSpPr>
          <a:xfrm>
            <a:off x="6195951" y="3333750"/>
            <a:ext cx="4543349" cy="1238400"/>
            <a:chOff x="0" y="0"/>
            <a:chExt cx="5524500" cy="1238400"/>
          </a:xfrm>
        </p:grpSpPr>
        <p:sp>
          <p:nvSpPr>
            <p:cNvPr id="118" name="Google Shape;118;g3f8ae63ca14_30_867"/>
            <p:cNvSpPr/>
            <p:nvPr/>
          </p:nvSpPr>
          <p:spPr>
            <a:xfrm>
              <a:off x="0" y="0"/>
              <a:ext cx="5524500" cy="1238400"/>
            </a:xfrm>
            <a:prstGeom prst="roundRect">
              <a:avLst>
                <a:gd fmla="val 12307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g3f8ae63ca14_30_867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fmla="val 50000" name="adj"/>
              </a:avLst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g3f8ae63ca14_30_867"/>
            <p:cNvSpPr txBox="1"/>
            <p:nvPr/>
          </p:nvSpPr>
          <p:spPr>
            <a:xfrm>
              <a:off x="285750" y="142875"/>
              <a:ext cx="495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Tier 2: Targeted Supports</a:t>
              </a:r>
              <a:endParaRPr b="1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Small group interventions, specialized counseling, academic support, and behavioral strategies tailored for students needing extra help.</a:t>
              </a:r>
              <a:endParaRPr b="0" sz="12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g3f8ae63ca14_30_867"/>
          <p:cNvGrpSpPr/>
          <p:nvPr/>
        </p:nvGrpSpPr>
        <p:grpSpPr>
          <a:xfrm>
            <a:off x="6195953" y="4762500"/>
            <a:ext cx="3161671" cy="1238400"/>
            <a:chOff x="0" y="0"/>
            <a:chExt cx="5524500" cy="1238400"/>
          </a:xfrm>
        </p:grpSpPr>
        <p:sp>
          <p:nvSpPr>
            <p:cNvPr id="122" name="Google Shape;122;g3f8ae63ca14_30_867"/>
            <p:cNvSpPr/>
            <p:nvPr/>
          </p:nvSpPr>
          <p:spPr>
            <a:xfrm>
              <a:off x="0" y="0"/>
              <a:ext cx="5524500" cy="1238400"/>
            </a:xfrm>
            <a:prstGeom prst="roundRect">
              <a:avLst>
                <a:gd fmla="val 12307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g3f8ae63ca14_30_867"/>
            <p:cNvSpPr/>
            <p:nvPr/>
          </p:nvSpPr>
          <p:spPr>
            <a:xfrm>
              <a:off x="0" y="0"/>
              <a:ext cx="76200" cy="1238400"/>
            </a:xfrm>
            <a:prstGeom prst="roundRect">
              <a:avLst>
                <a:gd fmla="val 50000" name="adj"/>
              </a:avLst>
            </a:prstGeom>
            <a:solidFill>
              <a:srgbClr val="9900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g3f8ae63ca14_30_867"/>
            <p:cNvSpPr txBox="1"/>
            <p:nvPr/>
          </p:nvSpPr>
          <p:spPr>
            <a:xfrm>
              <a:off x="285750" y="142875"/>
              <a:ext cx="495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Tier 3: Intensive Supports</a:t>
              </a:r>
              <a:endParaRPr b="1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Highly individual, high-intensity resources designed to address deep academic struggles, severe behaviors, or unique emotional needs.</a:t>
              </a:r>
              <a:endParaRPr b="0" sz="12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25" name="Google Shape;125;g3f8ae63ca14_30_8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54150" y="2419937"/>
            <a:ext cx="3710050" cy="306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f8ae63ca14_30_867"/>
          <p:cNvSpPr/>
          <p:nvPr/>
        </p:nvSpPr>
        <p:spPr>
          <a:xfrm>
            <a:off x="7544662" y="323519"/>
            <a:ext cx="4323899" cy="6212748"/>
          </a:xfrm>
          <a:custGeom>
            <a:rect b="b" l="l" r="r" t="t"/>
            <a:pathLst>
              <a:path extrusionOk="0" h="6212748" w="4323899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rgbClr val="7F7F7F">
              <a:alpha val="2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8ae63ca14_30_867"/>
          <p:cNvSpPr/>
          <p:nvPr/>
        </p:nvSpPr>
        <p:spPr>
          <a:xfrm flipH="1">
            <a:off x="8576660" y="3335867"/>
            <a:ext cx="329190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8ae63ca14_30_867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"/>
          <p:cNvGrpSpPr/>
          <p:nvPr/>
        </p:nvGrpSpPr>
        <p:grpSpPr>
          <a:xfrm>
            <a:off x="571500" y="476250"/>
            <a:ext cx="11049000" cy="1047900"/>
            <a:chOff x="0" y="0"/>
            <a:chExt cx="11049000" cy="1047900"/>
          </a:xfrm>
        </p:grpSpPr>
        <p:sp>
          <p:nvSpPr>
            <p:cNvPr id="134" name="Google Shape;134;p2"/>
            <p:cNvSpPr txBox="1"/>
            <p:nvPr/>
          </p:nvSpPr>
          <p:spPr>
            <a:xfrm>
              <a:off x="0" y="0"/>
              <a:ext cx="11049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What </a:t>
              </a:r>
              <a:r>
                <a:rPr b="1" lang="en-US" sz="3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MTSS From Early Warning to Action</a:t>
              </a:r>
              <a:r>
                <a:rPr b="1" lang="en-US" sz="3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 Is</a:t>
              </a:r>
              <a:endParaRPr b="1" sz="3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A connected system—not a single dashboard</a:t>
              </a:r>
              <a:endParaRPr b="0" sz="15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"/>
            <p:cNvSpPr/>
            <p:nvPr/>
          </p:nvSpPr>
          <p:spPr>
            <a:xfrm>
              <a:off x="0" y="809625"/>
              <a:ext cx="1143000" cy="47700"/>
            </a:xfrm>
            <a:prstGeom prst="rect">
              <a:avLst/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" name="Google Shape;136;p2"/>
          <p:cNvGrpSpPr/>
          <p:nvPr/>
        </p:nvGrpSpPr>
        <p:grpSpPr>
          <a:xfrm>
            <a:off x="571500" y="1714500"/>
            <a:ext cx="3429000" cy="3714750"/>
            <a:chOff x="0" y="0"/>
            <a:chExt cx="3429000" cy="3714750"/>
          </a:xfrm>
        </p:grpSpPr>
        <p:sp>
          <p:nvSpPr>
            <p:cNvPr id="137" name="Google Shape;137;p2"/>
            <p:cNvSpPr/>
            <p:nvPr/>
          </p:nvSpPr>
          <p:spPr>
            <a:xfrm>
              <a:off x="0" y="0"/>
              <a:ext cx="3429000" cy="2286000"/>
            </a:xfrm>
            <a:prstGeom prst="roundRect">
              <a:avLst>
                <a:gd fmla="val 6666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2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2"/>
            <p:cNvSpPr txBox="1"/>
            <p:nvPr/>
          </p:nvSpPr>
          <p:spPr>
            <a:xfrm>
              <a:off x="266700" y="228600"/>
              <a:ext cx="28956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Early Warning Engine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Transforms academic, attendance, and behavior indicators into consistent risk classifications.</a:t>
              </a:r>
              <a:endParaRPr b="0" sz="13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p2"/>
            <p:cNvSpPr/>
            <p:nvPr/>
          </p:nvSpPr>
          <p:spPr>
            <a:xfrm>
              <a:off x="1543050" y="2257425"/>
              <a:ext cx="342900" cy="342900"/>
            </a:xfrm>
            <a:prstGeom prst="ellipse">
              <a:avLst/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1543050" y="228079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6707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sz="1600">
                <a:solidFill>
                  <a:srgbClr val="66707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42" name="Google Shape;142;p2"/>
            <p:cNvSpPr/>
            <p:nvPr/>
          </p:nvSpPr>
          <p:spPr>
            <a:xfrm>
              <a:off x="0" y="276225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2"/>
            <p:cNvSpPr txBox="1"/>
            <p:nvPr/>
          </p:nvSpPr>
          <p:spPr>
            <a:xfrm>
              <a:off x="0" y="2762250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Risk domains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2"/>
          <p:cNvGrpSpPr/>
          <p:nvPr/>
        </p:nvGrpSpPr>
        <p:grpSpPr>
          <a:xfrm>
            <a:off x="4381500" y="1714500"/>
            <a:ext cx="3429000" cy="3714750"/>
            <a:chOff x="0" y="0"/>
            <a:chExt cx="3429000" cy="3714750"/>
          </a:xfrm>
        </p:grpSpPr>
        <p:sp>
          <p:nvSpPr>
            <p:cNvPr id="145" name="Google Shape;145;p2"/>
            <p:cNvSpPr/>
            <p:nvPr/>
          </p:nvSpPr>
          <p:spPr>
            <a:xfrm>
              <a:off x="0" y="0"/>
              <a:ext cx="3429000" cy="2286000"/>
            </a:xfrm>
            <a:prstGeom prst="roundRect">
              <a:avLst>
                <a:gd fmla="val 6666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" name="Google Shape;146;p2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2180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2"/>
            <p:cNvSpPr txBox="1"/>
            <p:nvPr/>
          </p:nvSpPr>
          <p:spPr>
            <a:xfrm>
              <a:off x="266700" y="228600"/>
              <a:ext cx="28956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Decision Layer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Power BI provides an interactive view for monitoring students, patterns, priorities, and trends.</a:t>
              </a:r>
              <a:endParaRPr b="0" sz="13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2"/>
            <p:cNvSpPr/>
            <p:nvPr/>
          </p:nvSpPr>
          <p:spPr>
            <a:xfrm>
              <a:off x="1543050" y="2257425"/>
              <a:ext cx="342900" cy="342900"/>
            </a:xfrm>
            <a:prstGeom prst="ellipse">
              <a:avLst/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2"/>
            <p:cNvSpPr txBox="1"/>
            <p:nvPr/>
          </p:nvSpPr>
          <p:spPr>
            <a:xfrm>
              <a:off x="1543050" y="228079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6707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sz="1600">
                <a:solidFill>
                  <a:srgbClr val="66707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0" name="Google Shape;150;p2"/>
            <p:cNvSpPr/>
            <p:nvPr/>
          </p:nvSpPr>
          <p:spPr>
            <a:xfrm>
              <a:off x="0" y="276225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2180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"/>
            <p:cNvSpPr txBox="1"/>
            <p:nvPr/>
          </p:nvSpPr>
          <p:spPr>
            <a:xfrm>
              <a:off x="0" y="2762250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MTSS tiers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2"/>
          <p:cNvGrpSpPr/>
          <p:nvPr/>
        </p:nvGrpSpPr>
        <p:grpSpPr>
          <a:xfrm>
            <a:off x="8191500" y="1714500"/>
            <a:ext cx="3429000" cy="3714750"/>
            <a:chOff x="0" y="0"/>
            <a:chExt cx="3429000" cy="3714750"/>
          </a:xfrm>
        </p:grpSpPr>
        <p:sp>
          <p:nvSpPr>
            <p:cNvPr id="153" name="Google Shape;153;p2"/>
            <p:cNvSpPr/>
            <p:nvPr/>
          </p:nvSpPr>
          <p:spPr>
            <a:xfrm>
              <a:off x="0" y="0"/>
              <a:ext cx="3429000" cy="2286000"/>
            </a:xfrm>
            <a:prstGeom prst="roundRect">
              <a:avLst>
                <a:gd fmla="val 6666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2"/>
            <p:cNvSpPr/>
            <p:nvPr/>
          </p:nvSpPr>
          <p:spPr>
            <a:xfrm>
              <a:off x="0" y="0"/>
              <a:ext cx="76200" cy="2286000"/>
            </a:xfrm>
            <a:prstGeom prst="roundRect">
              <a:avLst>
                <a:gd fmla="val 50000" name="adj"/>
              </a:avLst>
            </a:pr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2"/>
            <p:cNvSpPr txBox="1"/>
            <p:nvPr/>
          </p:nvSpPr>
          <p:spPr>
            <a:xfrm>
              <a:off x="266700" y="228600"/>
              <a:ext cx="2895600" cy="182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Action Layer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Operational spreadsheets organize students who need targeted academic, attendance, or behavior intervention.</a:t>
              </a:r>
              <a:endParaRPr b="0" sz="13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2"/>
            <p:cNvSpPr/>
            <p:nvPr/>
          </p:nvSpPr>
          <p:spPr>
            <a:xfrm>
              <a:off x="1543050" y="2257425"/>
              <a:ext cx="342900" cy="342900"/>
            </a:xfrm>
            <a:prstGeom prst="ellipse">
              <a:avLst/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" name="Google Shape;157;p2"/>
            <p:cNvSpPr txBox="1"/>
            <p:nvPr/>
          </p:nvSpPr>
          <p:spPr>
            <a:xfrm>
              <a:off x="1543050" y="2280793"/>
              <a:ext cx="342900" cy="34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66707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arrow_downward</a:t>
              </a:r>
              <a:endParaRPr sz="1600">
                <a:solidFill>
                  <a:srgbClr val="66707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58" name="Google Shape;158;p2"/>
            <p:cNvSpPr/>
            <p:nvPr/>
          </p:nvSpPr>
          <p:spPr>
            <a:xfrm>
              <a:off x="0" y="2762250"/>
              <a:ext cx="3429000" cy="952500"/>
            </a:xfrm>
            <a:prstGeom prst="roundRect">
              <a:avLst>
                <a:gd fmla="val 12000" name="adj"/>
              </a:avLst>
            </a:pr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2"/>
            <p:cNvSpPr txBox="1"/>
            <p:nvPr/>
          </p:nvSpPr>
          <p:spPr>
            <a:xfrm>
              <a:off x="0" y="2762250"/>
              <a:ext cx="3429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Integrated workflow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2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"/>
          <p:cNvSpPr txBox="1"/>
          <p:nvPr/>
        </p:nvSpPr>
        <p:spPr>
          <a:xfrm>
            <a:off x="548640" y="34747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Beyond the Power BI Dashboard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566928" y="86868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The dashboard is the visible decision layer of a larger system.</a:t>
            </a:r>
            <a:endParaRPr/>
          </a:p>
        </p:txBody>
      </p:sp>
      <p:sp>
        <p:nvSpPr>
          <p:cNvPr id="167" name="Google Shape;167;p3"/>
          <p:cNvSpPr/>
          <p:nvPr/>
        </p:nvSpPr>
        <p:spPr>
          <a:xfrm>
            <a:off x="548640" y="1207008"/>
            <a:ext cx="1097400" cy="5490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" name="Google Shape;168;p3"/>
          <p:cNvGrpSpPr/>
          <p:nvPr/>
        </p:nvGrpSpPr>
        <p:grpSpPr>
          <a:xfrm>
            <a:off x="571500" y="1524000"/>
            <a:ext cx="6667500" cy="3238500"/>
            <a:chOff x="571500" y="1524000"/>
            <a:chExt cx="6667500" cy="3238500"/>
          </a:xfrm>
        </p:grpSpPr>
        <p:grpSp>
          <p:nvGrpSpPr>
            <p:cNvPr id="169" name="Google Shape;169;p3"/>
            <p:cNvGrpSpPr/>
            <p:nvPr/>
          </p:nvGrpSpPr>
          <p:grpSpPr>
            <a:xfrm>
              <a:off x="571500" y="1524000"/>
              <a:ext cx="6667500" cy="952500"/>
              <a:chOff x="0" y="0"/>
              <a:chExt cx="6667500" cy="952500"/>
            </a:xfrm>
          </p:grpSpPr>
          <p:sp>
            <p:nvSpPr>
              <p:cNvPr id="170" name="Google Shape;170;p3"/>
              <p:cNvSpPr/>
              <p:nvPr/>
            </p:nvSpPr>
            <p:spPr>
              <a:xfrm>
                <a:off x="0" y="0"/>
                <a:ext cx="6667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3"/>
              <p:cNvSpPr/>
              <p:nvPr/>
            </p:nvSpPr>
            <p:spPr>
              <a:xfrm>
                <a:off x="0" y="0"/>
                <a:ext cx="762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2D63A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3"/>
              <p:cNvSpPr txBox="1"/>
              <p:nvPr/>
            </p:nvSpPr>
            <p:spPr>
              <a:xfrm>
                <a:off x="238125" y="32664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2D63A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bar_chart</a:t>
                </a:r>
                <a:endParaRPr sz="28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3" name="Google Shape;173;p3"/>
              <p:cNvSpPr txBox="1"/>
              <p:nvPr/>
            </p:nvSpPr>
            <p:spPr>
              <a:xfrm>
                <a:off x="809625" y="142875"/>
                <a:ext cx="5619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88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Power BI Answers:</a:t>
                </a:r>
                <a:endParaRPr b="1" sz="1388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88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“How are students’ academic, behavioral, and attendance data behaving?”</a:t>
                </a:r>
                <a:endParaRPr b="0" sz="1388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4" name="Google Shape;174;p3"/>
            <p:cNvGrpSpPr/>
            <p:nvPr/>
          </p:nvGrpSpPr>
          <p:grpSpPr>
            <a:xfrm>
              <a:off x="571500" y="2667000"/>
              <a:ext cx="6667500" cy="952500"/>
              <a:chOff x="0" y="0"/>
              <a:chExt cx="6667500" cy="952500"/>
            </a:xfrm>
          </p:grpSpPr>
          <p:sp>
            <p:nvSpPr>
              <p:cNvPr id="175" name="Google Shape;175;p3"/>
              <p:cNvSpPr/>
              <p:nvPr/>
            </p:nvSpPr>
            <p:spPr>
              <a:xfrm>
                <a:off x="0" y="0"/>
                <a:ext cx="6667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3"/>
              <p:cNvSpPr/>
              <p:nvPr/>
            </p:nvSpPr>
            <p:spPr>
              <a:xfrm>
                <a:off x="0" y="0"/>
                <a:ext cx="762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2180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3"/>
              <p:cNvSpPr txBox="1"/>
              <p:nvPr/>
            </p:nvSpPr>
            <p:spPr>
              <a:xfrm>
                <a:off x="238125" y="32664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21807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help_outline</a:t>
                </a:r>
                <a:endParaRPr sz="2800">
                  <a:solidFill>
                    <a:srgbClr val="21807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78" name="Google Shape;178;p3"/>
              <p:cNvSpPr txBox="1"/>
              <p:nvPr/>
            </p:nvSpPr>
            <p:spPr>
              <a:xfrm>
                <a:off x="809625" y="142875"/>
                <a:ext cx="5619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5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The Intervention Infrastructure Answers:</a:t>
                </a:r>
                <a:endParaRPr b="1" sz="15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“Who needs attention, and why, and </a:t>
                </a: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w</a:t>
                </a:r>
                <a:r>
                  <a:rPr b="0"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hat action should happen next?”</a:t>
                </a:r>
                <a:endParaRPr b="0"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79" name="Google Shape;179;p3"/>
            <p:cNvGrpSpPr/>
            <p:nvPr/>
          </p:nvGrpSpPr>
          <p:grpSpPr>
            <a:xfrm>
              <a:off x="571500" y="3810000"/>
              <a:ext cx="6667500" cy="952500"/>
              <a:chOff x="0" y="0"/>
              <a:chExt cx="6667500" cy="952500"/>
            </a:xfrm>
          </p:grpSpPr>
          <p:sp>
            <p:nvSpPr>
              <p:cNvPr id="180" name="Google Shape;180;p3"/>
              <p:cNvSpPr/>
              <p:nvPr/>
            </p:nvSpPr>
            <p:spPr>
              <a:xfrm>
                <a:off x="0" y="0"/>
                <a:ext cx="6667500" cy="952500"/>
              </a:xfrm>
              <a:prstGeom prst="roundRect">
                <a:avLst>
                  <a:gd fmla="val 12000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3"/>
              <p:cNvSpPr/>
              <p:nvPr/>
            </p:nvSpPr>
            <p:spPr>
              <a:xfrm>
                <a:off x="0" y="0"/>
                <a:ext cx="76200" cy="952500"/>
              </a:xfrm>
              <a:prstGeom prst="roundRect">
                <a:avLst>
                  <a:gd fmla="val 50000" name="adj"/>
                </a:avLst>
              </a:prstGeom>
              <a:solidFill>
                <a:srgbClr val="D391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"/>
              <p:cNvSpPr txBox="1"/>
              <p:nvPr/>
            </p:nvSpPr>
            <p:spPr>
              <a:xfrm>
                <a:off x="238125" y="326644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D391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link</a:t>
                </a:r>
                <a:endParaRPr sz="2800">
                  <a:solidFill>
                    <a:srgbClr val="D391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183" name="Google Shape;183;p3"/>
              <p:cNvSpPr txBox="1"/>
              <p:nvPr/>
            </p:nvSpPr>
            <p:spPr>
              <a:xfrm>
                <a:off x="809625" y="142875"/>
                <a:ext cx="5619900" cy="666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388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Coordinated System Integration:</a:t>
                </a:r>
                <a:endParaRPr b="1" sz="1388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300"/>
                  </a:spcBef>
                  <a:spcAft>
                    <a:spcPts val="0"/>
                  </a:spcAft>
                  <a:buNone/>
                </a:pPr>
                <a:r>
                  <a:rPr b="0" lang="en-US" sz="1388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Together, they connect identification to coordinated support and monitoring.</a:t>
                </a:r>
                <a:endParaRPr b="0" sz="1388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4" name="Google Shape;184;p3"/>
          <p:cNvGrpSpPr/>
          <p:nvPr/>
        </p:nvGrpSpPr>
        <p:grpSpPr>
          <a:xfrm>
            <a:off x="7620000" y="1524000"/>
            <a:ext cx="4000500" cy="3238500"/>
            <a:chOff x="0" y="0"/>
            <a:chExt cx="4000500" cy="3238500"/>
          </a:xfrm>
        </p:grpSpPr>
        <p:sp>
          <p:nvSpPr>
            <p:cNvPr id="185" name="Google Shape;185;p3"/>
            <p:cNvSpPr/>
            <p:nvPr/>
          </p:nvSpPr>
          <p:spPr>
            <a:xfrm>
              <a:off x="0" y="0"/>
              <a:ext cx="4000500" cy="3238500"/>
            </a:xfrm>
            <a:prstGeom prst="roundRect">
              <a:avLst>
                <a:gd fmla="val 4705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3"/>
            <p:cNvSpPr/>
            <p:nvPr/>
          </p:nvSpPr>
          <p:spPr>
            <a:xfrm>
              <a:off x="0" y="0"/>
              <a:ext cx="76200" cy="3238500"/>
            </a:xfrm>
            <a:prstGeom prst="roundRect">
              <a:avLst>
                <a:gd fmla="val 50000" name="adj"/>
              </a:avLst>
            </a:prstGeom>
            <a:solidFill>
              <a:srgbClr val="2180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"/>
            <p:cNvSpPr txBox="1"/>
            <p:nvPr/>
          </p:nvSpPr>
          <p:spPr>
            <a:xfrm>
              <a:off x="285750" y="190500"/>
              <a:ext cx="3429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Integrated MTSS Architecture</a:t>
              </a:r>
              <a:endParaRPr b="1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8" name="Google Shape;188;p3"/>
            <p:cNvGrpSpPr/>
            <p:nvPr/>
          </p:nvGrpSpPr>
          <p:grpSpPr>
            <a:xfrm>
              <a:off x="285750" y="666750"/>
              <a:ext cx="3257550" cy="2190900"/>
              <a:chOff x="0" y="0"/>
              <a:chExt cx="3257550" cy="2190900"/>
            </a:xfrm>
          </p:grpSpPr>
          <p:grpSp>
            <p:nvGrpSpPr>
              <p:cNvPr id="189" name="Google Shape;189;p3"/>
              <p:cNvGrpSpPr/>
              <p:nvPr/>
            </p:nvGrpSpPr>
            <p:grpSpPr>
              <a:xfrm>
                <a:off x="0" y="0"/>
                <a:ext cx="3257550" cy="285900"/>
                <a:chOff x="0" y="0"/>
                <a:chExt cx="3257550" cy="285900"/>
              </a:xfrm>
            </p:grpSpPr>
            <p:sp>
              <p:nvSpPr>
                <p:cNvPr id="190" name="Google Shape;190;p3"/>
                <p:cNvSpPr/>
                <p:nvPr/>
              </p:nvSpPr>
              <p:spPr>
                <a:xfrm>
                  <a:off x="0" y="0"/>
                  <a:ext cx="285900" cy="285900"/>
                </a:xfrm>
                <a:prstGeom prst="ellipse">
                  <a:avLst/>
                </a:prstGeom>
                <a:solidFill>
                  <a:srgbClr val="2D63AA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3"/>
                <p:cNvSpPr txBox="1"/>
                <p:nvPr/>
              </p:nvSpPr>
              <p:spPr>
                <a:xfrm>
                  <a:off x="0" y="0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3"/>
                <p:cNvSpPr txBox="1"/>
                <p:nvPr/>
              </p:nvSpPr>
              <p:spPr>
                <a:xfrm>
                  <a:off x="400050" y="28575"/>
                  <a:ext cx="28575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14243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Risk Engine</a:t>
                  </a:r>
                  <a:endParaRPr b="1" sz="14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93" name="Google Shape;193;p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33350" y="28575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4" name="Google Shape;194;p3"/>
              <p:cNvGrpSpPr/>
              <p:nvPr/>
            </p:nvGrpSpPr>
            <p:grpSpPr>
              <a:xfrm>
                <a:off x="0" y="476250"/>
                <a:ext cx="3257550" cy="285900"/>
                <a:chOff x="0" y="0"/>
                <a:chExt cx="3257550" cy="285900"/>
              </a:xfrm>
            </p:grpSpPr>
            <p:sp>
              <p:nvSpPr>
                <p:cNvPr id="195" name="Google Shape;195;p3"/>
                <p:cNvSpPr/>
                <p:nvPr/>
              </p:nvSpPr>
              <p:spPr>
                <a:xfrm>
                  <a:off x="0" y="0"/>
                  <a:ext cx="285900" cy="285900"/>
                </a:xfrm>
                <a:prstGeom prst="ellipse">
                  <a:avLst/>
                </a:prstGeom>
                <a:solidFill>
                  <a:srgbClr val="218079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" name="Google Shape;196;p3"/>
                <p:cNvSpPr txBox="1"/>
                <p:nvPr/>
              </p:nvSpPr>
              <p:spPr>
                <a:xfrm>
                  <a:off x="0" y="0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2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3"/>
                <p:cNvSpPr txBox="1"/>
                <p:nvPr/>
              </p:nvSpPr>
              <p:spPr>
                <a:xfrm>
                  <a:off x="400050" y="28575"/>
                  <a:ext cx="28575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14243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Tier + Priority</a:t>
                  </a:r>
                  <a:endParaRPr b="1" sz="14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198" name="Google Shape;198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33350" y="76200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99" name="Google Shape;199;p3"/>
              <p:cNvGrpSpPr/>
              <p:nvPr/>
            </p:nvGrpSpPr>
            <p:grpSpPr>
              <a:xfrm>
                <a:off x="0" y="952500"/>
                <a:ext cx="3257550" cy="285900"/>
                <a:chOff x="0" y="0"/>
                <a:chExt cx="3257550" cy="285900"/>
              </a:xfrm>
            </p:grpSpPr>
            <p:sp>
              <p:nvSpPr>
                <p:cNvPr id="200" name="Google Shape;200;p3"/>
                <p:cNvSpPr/>
                <p:nvPr/>
              </p:nvSpPr>
              <p:spPr>
                <a:xfrm>
                  <a:off x="0" y="0"/>
                  <a:ext cx="285900" cy="285900"/>
                </a:xfrm>
                <a:prstGeom prst="ellipse">
                  <a:avLst/>
                </a:prstGeom>
                <a:solidFill>
                  <a:srgbClr val="D3912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3"/>
                <p:cNvSpPr txBox="1"/>
                <p:nvPr/>
              </p:nvSpPr>
              <p:spPr>
                <a:xfrm>
                  <a:off x="0" y="0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" name="Google Shape;202;p3"/>
                <p:cNvSpPr txBox="1"/>
                <p:nvPr/>
              </p:nvSpPr>
              <p:spPr>
                <a:xfrm>
                  <a:off x="400050" y="28575"/>
                  <a:ext cx="28575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14243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Power BI Decision View</a:t>
                  </a:r>
                  <a:endParaRPr b="1" sz="14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203" name="Google Shape;203;p3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>
                <a:off x="133350" y="123825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04" name="Google Shape;204;p3"/>
              <p:cNvGrpSpPr/>
              <p:nvPr/>
            </p:nvGrpSpPr>
            <p:grpSpPr>
              <a:xfrm>
                <a:off x="0" y="1428750"/>
                <a:ext cx="3257550" cy="285900"/>
                <a:chOff x="0" y="0"/>
                <a:chExt cx="3257550" cy="285900"/>
              </a:xfrm>
            </p:grpSpPr>
            <p:sp>
              <p:nvSpPr>
                <p:cNvPr id="205" name="Google Shape;205;p3"/>
                <p:cNvSpPr/>
                <p:nvPr/>
              </p:nvSpPr>
              <p:spPr>
                <a:xfrm>
                  <a:off x="0" y="0"/>
                  <a:ext cx="285900" cy="285900"/>
                </a:xfrm>
                <a:prstGeom prst="ellipse">
                  <a:avLst/>
                </a:prstGeom>
                <a:solidFill>
                  <a:srgbClr val="9900FF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" name="Google Shape;206;p3"/>
                <p:cNvSpPr txBox="1"/>
                <p:nvPr/>
              </p:nvSpPr>
              <p:spPr>
                <a:xfrm>
                  <a:off x="0" y="0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4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3"/>
                <p:cNvSpPr txBox="1"/>
                <p:nvPr/>
              </p:nvSpPr>
              <p:spPr>
                <a:xfrm>
                  <a:off x="400050" y="28575"/>
                  <a:ext cx="28575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14243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Intervention Workbooks</a:t>
                  </a:r>
                  <a:endParaRPr b="1" sz="14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pic>
            <p:nvPicPr>
              <p:cNvPr id="208" name="Google Shape;208;p3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>
                <a:off x="133350" y="1714500"/>
                <a:ext cx="19200" cy="19050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09" name="Google Shape;209;p3"/>
              <p:cNvGrpSpPr/>
              <p:nvPr/>
            </p:nvGrpSpPr>
            <p:grpSpPr>
              <a:xfrm>
                <a:off x="0" y="1905000"/>
                <a:ext cx="3257550" cy="285900"/>
                <a:chOff x="0" y="0"/>
                <a:chExt cx="3257550" cy="285900"/>
              </a:xfrm>
            </p:grpSpPr>
            <p:sp>
              <p:nvSpPr>
                <p:cNvPr id="210" name="Google Shape;210;p3"/>
                <p:cNvSpPr/>
                <p:nvPr/>
              </p:nvSpPr>
              <p:spPr>
                <a:xfrm>
                  <a:off x="0" y="0"/>
                  <a:ext cx="285900" cy="285900"/>
                </a:xfrm>
                <a:prstGeom prst="ellipse">
                  <a:avLst/>
                </a:prstGeom>
                <a:solidFill>
                  <a:srgbClr val="3D8956"/>
                </a:solidFill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" name="Google Shape;211;p3"/>
                <p:cNvSpPr txBox="1"/>
                <p:nvPr/>
              </p:nvSpPr>
              <p:spPr>
                <a:xfrm>
                  <a:off x="0" y="0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200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5</a:t>
                  </a:r>
                  <a:endParaRPr b="1" sz="12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2" name="Google Shape;212;p3"/>
                <p:cNvSpPr txBox="1"/>
                <p:nvPr/>
              </p:nvSpPr>
              <p:spPr>
                <a:xfrm>
                  <a:off x="400050" y="28575"/>
                  <a:ext cx="2857500" cy="228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-US" sz="1400">
                      <a:solidFill>
                        <a:srgbClr val="14243D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Action + Monitoring</a:t>
                  </a:r>
                  <a:endParaRPr b="1" sz="14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pic>
        <p:nvPicPr>
          <p:cNvPr id="213" name="Google Shape;21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907775" y="5559250"/>
            <a:ext cx="5773800" cy="9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215" name="Google Shape;215;p3"/>
          <p:cNvSpPr txBox="1"/>
          <p:nvPr/>
        </p:nvSpPr>
        <p:spPr>
          <a:xfrm>
            <a:off x="3504821" y="5702650"/>
            <a:ext cx="4469700" cy="61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FCF7E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Power BI Dashboard Sample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4"/>
          <p:cNvSpPr txBox="1"/>
          <p:nvPr/>
        </p:nvSpPr>
        <p:spPr>
          <a:xfrm>
            <a:off x="548640" y="347472"/>
            <a:ext cx="560986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How the MTSS Engine Identifies Risk</a:t>
            </a:r>
            <a:endParaRPr/>
          </a:p>
        </p:txBody>
      </p:sp>
      <p:sp>
        <p:nvSpPr>
          <p:cNvPr id="222" name="Google Shape;222;p4"/>
          <p:cNvSpPr txBox="1"/>
          <p:nvPr/>
        </p:nvSpPr>
        <p:spPr>
          <a:xfrm>
            <a:off x="566928" y="868680"/>
            <a:ext cx="5254067" cy="2923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Academic + Attendance + Behavior → the highest risk drives the overall tier</a:t>
            </a:r>
            <a:endParaRPr/>
          </a:p>
        </p:txBody>
      </p:sp>
      <p:sp>
        <p:nvSpPr>
          <p:cNvPr id="223" name="Google Shape;223;p4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640080" y="1600200"/>
            <a:ext cx="3246120" cy="18288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640080" y="1600200"/>
            <a:ext cx="73152" cy="182880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4"/>
          <p:cNvSpPr txBox="1"/>
          <p:nvPr/>
        </p:nvSpPr>
        <p:spPr>
          <a:xfrm>
            <a:off x="868680" y="1764792"/>
            <a:ext cx="28346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1 • Academic Risk</a:t>
            </a:r>
            <a:endParaRPr/>
          </a:p>
        </p:txBody>
      </p:sp>
      <p:sp>
        <p:nvSpPr>
          <p:cNvPr id="227" name="Google Shape;227;p4"/>
          <p:cNvSpPr txBox="1"/>
          <p:nvPr/>
        </p:nvSpPr>
        <p:spPr>
          <a:xfrm>
            <a:off x="868680" y="2203704"/>
            <a:ext cx="283463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EOC: mean standards/strand performance.</a:t>
            </a:r>
            <a:b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Non-EOC: course grade.</a:t>
            </a:r>
            <a:endParaRPr/>
          </a:p>
        </p:txBody>
      </p:sp>
      <p:sp>
        <p:nvSpPr>
          <p:cNvPr id="228" name="Google Shape;228;p4"/>
          <p:cNvSpPr/>
          <p:nvPr/>
        </p:nvSpPr>
        <p:spPr>
          <a:xfrm>
            <a:off x="4480560" y="1600200"/>
            <a:ext cx="3246120" cy="18288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4480560" y="1600200"/>
            <a:ext cx="73152" cy="1828800"/>
          </a:xfrm>
          <a:prstGeom prst="rect">
            <a:avLst/>
          </a:prstGeom>
          <a:solidFill>
            <a:srgbClr val="2180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4"/>
          <p:cNvSpPr txBox="1"/>
          <p:nvPr/>
        </p:nvSpPr>
        <p:spPr>
          <a:xfrm>
            <a:off x="4709160" y="1764792"/>
            <a:ext cx="28346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2 • Attendance Risk</a:t>
            </a:r>
            <a:endParaRPr/>
          </a:p>
        </p:txBody>
      </p:sp>
      <p:sp>
        <p:nvSpPr>
          <p:cNvPr id="231" name="Google Shape;231;p4"/>
          <p:cNvSpPr txBox="1"/>
          <p:nvPr/>
        </p:nvSpPr>
        <p:spPr>
          <a:xfrm>
            <a:off x="4709160" y="2203704"/>
            <a:ext cx="283463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Attendance rate = days present ÷ days enrolled.</a:t>
            </a:r>
            <a:endParaRPr/>
          </a:p>
        </p:txBody>
      </p:sp>
      <p:sp>
        <p:nvSpPr>
          <p:cNvPr id="232" name="Google Shape;232;p4"/>
          <p:cNvSpPr/>
          <p:nvPr/>
        </p:nvSpPr>
        <p:spPr>
          <a:xfrm>
            <a:off x="8321040" y="1600200"/>
            <a:ext cx="3246120" cy="18288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8321040" y="1600200"/>
            <a:ext cx="73152" cy="1828800"/>
          </a:xfrm>
          <a:prstGeom prst="rect">
            <a:avLst/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4"/>
          <p:cNvSpPr txBox="1"/>
          <p:nvPr/>
        </p:nvSpPr>
        <p:spPr>
          <a:xfrm>
            <a:off x="8549640" y="1764792"/>
            <a:ext cx="2834639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3 • Behavior Risk</a:t>
            </a:r>
            <a:endParaRPr/>
          </a:p>
        </p:txBody>
      </p:sp>
      <p:sp>
        <p:nvSpPr>
          <p:cNvPr id="235" name="Google Shape;235;p4"/>
          <p:cNvSpPr txBox="1"/>
          <p:nvPr/>
        </p:nvSpPr>
        <p:spPr>
          <a:xfrm>
            <a:off x="8549640" y="2203704"/>
            <a:ext cx="2834639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Combined incident/referral volume is translated into a risk level.</a:t>
            </a:r>
            <a:endParaRPr/>
          </a:p>
        </p:txBody>
      </p:sp>
      <p:cxnSp>
        <p:nvCxnSpPr>
          <p:cNvPr id="236" name="Google Shape;236;p4"/>
          <p:cNvCxnSpPr/>
          <p:nvPr/>
        </p:nvCxnSpPr>
        <p:spPr>
          <a:xfrm>
            <a:off x="3931920" y="25146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2D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37" name="Google Shape;237;p4"/>
          <p:cNvCxnSpPr/>
          <p:nvPr/>
        </p:nvCxnSpPr>
        <p:spPr>
          <a:xfrm>
            <a:off x="7772400" y="2514600"/>
            <a:ext cx="502920" cy="0"/>
          </a:xfrm>
          <a:prstGeom prst="straightConnector1">
            <a:avLst/>
          </a:prstGeom>
          <a:noFill/>
          <a:ln cap="flat" cmpd="sng" w="31750">
            <a:solidFill>
              <a:srgbClr val="2D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38" name="Google Shape;238;p4"/>
          <p:cNvSpPr/>
          <p:nvPr/>
        </p:nvSpPr>
        <p:spPr>
          <a:xfrm>
            <a:off x="1879600" y="4130248"/>
            <a:ext cx="8524200" cy="1575300"/>
          </a:xfrm>
          <a:prstGeom prst="roundRect">
            <a:avLst>
              <a:gd fmla="val 16667" name="adj"/>
            </a:avLst>
          </a:prstGeom>
          <a:solidFill>
            <a:srgbClr val="14243D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4"/>
          <p:cNvSpPr txBox="1"/>
          <p:nvPr/>
        </p:nvSpPr>
        <p:spPr>
          <a:xfrm>
            <a:off x="1721625" y="4482746"/>
            <a:ext cx="8524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Overall Tier = MAX(Academic Risk, Attendance Risk, Behavior Risk)</a:t>
            </a:r>
            <a:endParaRPr sz="2200"/>
          </a:p>
        </p:txBody>
      </p:sp>
      <p:sp>
        <p:nvSpPr>
          <p:cNvPr id="240" name="Google Shape;240;p4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7544662" y="323519"/>
            <a:ext cx="4323899" cy="6212748"/>
          </a:xfrm>
          <a:custGeom>
            <a:rect b="b" l="l" r="r" t="t"/>
            <a:pathLst>
              <a:path extrusionOk="0" h="6212748" w="4323899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rgbClr val="7F7F7F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1317450" y="1342325"/>
            <a:ext cx="5348400" cy="41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Risk Rules</a:t>
            </a:r>
            <a:endParaRPr/>
          </a:p>
        </p:txBody>
      </p:sp>
      <p:sp>
        <p:nvSpPr>
          <p:cNvPr id="250" name="Google Shape;250;p5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Academic Risk Rules</a:t>
            </a:r>
            <a:endParaRPr/>
          </a:p>
        </p:txBody>
      </p:sp>
      <p:sp>
        <p:nvSpPr>
          <p:cNvPr id="257" name="Google Shape;257;p6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EOC and non-EOC courses use different academic signals</a:t>
            </a:r>
            <a:endParaRPr/>
          </a:p>
        </p:txBody>
      </p:sp>
      <p:sp>
        <p:nvSpPr>
          <p:cNvPr id="258" name="Google Shape;258;p6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9" name="Google Shape;259;p6"/>
          <p:cNvGraphicFramePr/>
          <p:nvPr/>
        </p:nvGraphicFramePr>
        <p:xfrm>
          <a:off x="594360" y="15544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{17226454-313F-46BB-B241-8E902FAE17D3}</a:tableStyleId>
              </a:tblPr>
              <a:tblGrid>
                <a:gridCol w="4297675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EOC Academic Performance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Risk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65% or higher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50%–64.9%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40%–49.9%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Below 40%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SEVERE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Missing / zero / no data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/>
                        <a:t>PENDING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60" name="Google Shape;260;p6"/>
          <p:cNvGraphicFramePr/>
          <p:nvPr/>
        </p:nvGraphicFramePr>
        <p:xfrm>
          <a:off x="1920240" y="4069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{17226454-313F-46BB-B241-8E902FAE17D3}</a:tableStyleId>
              </a:tblPr>
              <a:tblGrid>
                <a:gridCol w="4297675"/>
                <a:gridCol w="182880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Non-EOC Course Grade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Risk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A or 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u="none" cap="none" strike="noStrike">
                          <a:solidFill>
                            <a:srgbClr val="2A313A"/>
                          </a:solidFill>
                        </a:rPr>
                        <a:t>SEVERE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6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262" name="Google Shape;262;p6"/>
          <p:cNvSpPr/>
          <p:nvPr/>
        </p:nvSpPr>
        <p:spPr>
          <a:xfrm>
            <a:off x="6204000" y="1941478"/>
            <a:ext cx="340196" cy="271370"/>
          </a:xfrm>
          <a:prstGeom prst="roundRect">
            <a:avLst>
              <a:gd fmla="val 16667" name="adj"/>
            </a:avLst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7575600" y="4384794"/>
            <a:ext cx="340196" cy="271370"/>
          </a:xfrm>
          <a:prstGeom prst="roundRect">
            <a:avLst>
              <a:gd fmla="val 16667" name="adj"/>
            </a:avLst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6204001" y="2334129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7578396" y="4695517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6204001" y="2707998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7584142" y="5026716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204001" y="3081867"/>
            <a:ext cx="347571" cy="24153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7584142" y="5336310"/>
            <a:ext cx="347571" cy="24153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Attendance Risk Rules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Attendance is converted into a four-level risk signal</a:t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731520" y="164592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841248" y="1755648"/>
            <a:ext cx="2112263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≥ 90%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822960" y="2350008"/>
            <a:ext cx="2148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LOW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3246120" y="164592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 txBox="1"/>
          <p:nvPr/>
        </p:nvSpPr>
        <p:spPr>
          <a:xfrm>
            <a:off x="3355848" y="1755648"/>
            <a:ext cx="2112263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80–89.9%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3337560" y="2350008"/>
            <a:ext cx="2148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5760720" y="164592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 txBox="1"/>
          <p:nvPr/>
        </p:nvSpPr>
        <p:spPr>
          <a:xfrm>
            <a:off x="5870448" y="1755648"/>
            <a:ext cx="2112263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60–79.9%</a:t>
            </a:r>
            <a:endParaRPr/>
          </a:p>
        </p:txBody>
      </p:sp>
      <p:sp>
        <p:nvSpPr>
          <p:cNvPr id="286" name="Google Shape;286;p7"/>
          <p:cNvSpPr txBox="1"/>
          <p:nvPr/>
        </p:nvSpPr>
        <p:spPr>
          <a:xfrm>
            <a:off x="5852159" y="2350008"/>
            <a:ext cx="2148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8275320" y="1645920"/>
            <a:ext cx="2331720" cy="141732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 txBox="1"/>
          <p:nvPr/>
        </p:nvSpPr>
        <p:spPr>
          <a:xfrm>
            <a:off x="8385048" y="1755648"/>
            <a:ext cx="2112263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60%</a:t>
            </a:r>
            <a:endParaRPr/>
          </a:p>
        </p:txBody>
      </p:sp>
      <p:sp>
        <p:nvSpPr>
          <p:cNvPr id="289" name="Google Shape;289;p7"/>
          <p:cNvSpPr txBox="1"/>
          <p:nvPr/>
        </p:nvSpPr>
        <p:spPr>
          <a:xfrm>
            <a:off x="8366760" y="2350008"/>
            <a:ext cx="2148839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SEVERE</a:t>
            </a:r>
            <a:endParaRPr/>
          </a:p>
        </p:txBody>
      </p:sp>
      <p:sp>
        <p:nvSpPr>
          <p:cNvPr id="290" name="Google Shape;290;p7"/>
          <p:cNvSpPr/>
          <p:nvPr/>
        </p:nvSpPr>
        <p:spPr>
          <a:xfrm>
            <a:off x="1005840" y="3886200"/>
            <a:ext cx="9966960" cy="141732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1005840" y="3886200"/>
            <a:ext cx="73152" cy="1417320"/>
          </a:xfrm>
          <a:prstGeom prst="rect">
            <a:avLst/>
          </a:prstGeom>
          <a:solidFill>
            <a:srgbClr val="2180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 txBox="1"/>
          <p:nvPr/>
        </p:nvSpPr>
        <p:spPr>
          <a:xfrm>
            <a:off x="1234440" y="4050791"/>
            <a:ext cx="9555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Calculation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1234440" y="4489704"/>
            <a:ext cx="9555480" cy="70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Attendance rate = Days Present ÷ Days Enrolled. The engine assigns the student’s attendance-risk band from that rate.</a:t>
            </a:r>
            <a:endParaRPr/>
          </a:p>
        </p:txBody>
      </p:sp>
      <p:sp>
        <p:nvSpPr>
          <p:cNvPr id="294" name="Google Shape;294;p7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Behavior Risk Rules</a:t>
            </a:r>
            <a:endParaRPr/>
          </a:p>
        </p:txBody>
      </p:sp>
      <p:sp>
        <p:nvSpPr>
          <p:cNvPr id="301" name="Google Shape;301;p8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Behavior risk increases with cumulative incidents/referrals</a:t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03" name="Google Shape;303;p8"/>
          <p:cNvGraphicFramePr/>
          <p:nvPr/>
        </p:nvGraphicFramePr>
        <p:xfrm>
          <a:off x="1051560" y="1600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{17226454-313F-46BB-B241-8E902FAE17D3}</a:tableStyleId>
              </a:tblPr>
              <a:tblGrid>
                <a:gridCol w="4572000"/>
                <a:gridCol w="2743200"/>
              </a:tblGrid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Incidents / Referrals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Behavior Risk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0–1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2–5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6–8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HIGH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7607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9+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u="none" cap="none" strike="noStrike">
                          <a:solidFill>
                            <a:srgbClr val="2A313A"/>
                          </a:solidFill>
                        </a:rPr>
                        <a:t>SEVERE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304" name="Google Shape;304;p8"/>
          <p:cNvSpPr/>
          <p:nvPr/>
        </p:nvSpPr>
        <p:spPr>
          <a:xfrm>
            <a:off x="1645920" y="4800600"/>
            <a:ext cx="8778240" cy="107909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1645920" y="4800600"/>
            <a:ext cx="73152" cy="822960"/>
          </a:xfrm>
          <a:prstGeom prst="rect">
            <a:avLst/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 txBox="1"/>
          <p:nvPr/>
        </p:nvSpPr>
        <p:spPr>
          <a:xfrm>
            <a:off x="1874519" y="4965192"/>
            <a:ext cx="8366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System logic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1874519" y="5404104"/>
            <a:ext cx="8366760" cy="1097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Combined behavior incident volume is used; the engine can fall back to referral count when needed.</a:t>
            </a:r>
            <a:endParaRPr/>
          </a:p>
        </p:txBody>
      </p:sp>
      <p:sp>
        <p:nvSpPr>
          <p:cNvPr id="308" name="Google Shape;308;p8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7669009" y="2784495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669009" y="2253456"/>
            <a:ext cx="340196" cy="271370"/>
          </a:xfrm>
          <a:prstGeom prst="roundRect">
            <a:avLst>
              <a:gd fmla="val 16667" name="adj"/>
            </a:avLst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7669009" y="3421206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669009" y="3997131"/>
            <a:ext cx="347571" cy="24153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7544662" y="323519"/>
            <a:ext cx="4323899" cy="6212748"/>
          </a:xfrm>
          <a:custGeom>
            <a:rect b="b" l="l" r="r" t="t"/>
            <a:pathLst>
              <a:path extrusionOk="0" h="6212748" w="4323899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rgbClr val="7F7F7F">
              <a:alpha val="25098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cap="flat" cmpd="sng" w="1905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 txBox="1"/>
          <p:nvPr/>
        </p:nvSpPr>
        <p:spPr>
          <a:xfrm>
            <a:off x="746050" y="1342325"/>
            <a:ext cx="6385200" cy="417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Tier/Priority Status  Placement </a:t>
            </a:r>
            <a:endParaRPr/>
          </a:p>
        </p:txBody>
      </p:sp>
      <p:sp>
        <p:nvSpPr>
          <p:cNvPr id="322" name="Google Shape;322;p10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The MAX RULE — How Tiers Are Assigned</a:t>
            </a:r>
            <a:endParaRPr/>
          </a:p>
        </p:txBody>
      </p:sp>
      <p:sp>
        <p:nvSpPr>
          <p:cNvPr id="329" name="Google Shape;329;p9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One elevated risk domain can raise the student’s overall tier</a:t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594360" y="1554480"/>
            <a:ext cx="3383280" cy="12801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594360" y="1554480"/>
            <a:ext cx="73152" cy="128016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 txBox="1"/>
          <p:nvPr/>
        </p:nvSpPr>
        <p:spPr>
          <a:xfrm>
            <a:off x="822960" y="17190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822960" y="2157984"/>
            <a:ext cx="297180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Each domain receives its own risk level.</a:t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4389120" y="1554480"/>
            <a:ext cx="3383280" cy="12801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389120" y="1554480"/>
            <a:ext cx="73152" cy="1280160"/>
          </a:xfrm>
          <a:prstGeom prst="rect">
            <a:avLst/>
          </a:prstGeom>
          <a:solidFill>
            <a:srgbClr val="2180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 txBox="1"/>
          <p:nvPr/>
        </p:nvSpPr>
        <p:spPr>
          <a:xfrm>
            <a:off x="4617720" y="17190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ATTENDANCE</a:t>
            </a:r>
            <a:endParaRPr/>
          </a:p>
        </p:txBody>
      </p:sp>
      <p:sp>
        <p:nvSpPr>
          <p:cNvPr id="338" name="Google Shape;338;p9"/>
          <p:cNvSpPr txBox="1"/>
          <p:nvPr/>
        </p:nvSpPr>
        <p:spPr>
          <a:xfrm>
            <a:off x="4617720" y="2157984"/>
            <a:ext cx="297180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Each domain receives its own risk level.</a:t>
            </a:r>
            <a:endParaRPr/>
          </a:p>
        </p:txBody>
      </p:sp>
      <p:sp>
        <p:nvSpPr>
          <p:cNvPr id="339" name="Google Shape;339;p9"/>
          <p:cNvSpPr/>
          <p:nvPr/>
        </p:nvSpPr>
        <p:spPr>
          <a:xfrm>
            <a:off x="8183880" y="1554480"/>
            <a:ext cx="3383280" cy="12801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8183880" y="1554480"/>
            <a:ext cx="73152" cy="1280160"/>
          </a:xfrm>
          <a:prstGeom prst="rect">
            <a:avLst/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 txBox="1"/>
          <p:nvPr/>
        </p:nvSpPr>
        <p:spPr>
          <a:xfrm>
            <a:off x="8412480" y="17190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BEHAVIOR</a:t>
            </a:r>
            <a:endParaRPr/>
          </a:p>
        </p:txBody>
      </p:sp>
      <p:sp>
        <p:nvSpPr>
          <p:cNvPr id="342" name="Google Shape;342;p9"/>
          <p:cNvSpPr txBox="1"/>
          <p:nvPr/>
        </p:nvSpPr>
        <p:spPr>
          <a:xfrm>
            <a:off x="8412480" y="2157984"/>
            <a:ext cx="2971800" cy="566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Each domain receives its own risk level.</a:t>
            </a:r>
            <a:endParaRPr/>
          </a:p>
        </p:txBody>
      </p:sp>
      <p:sp>
        <p:nvSpPr>
          <p:cNvPr id="343" name="Google Shape;343;p9"/>
          <p:cNvSpPr/>
          <p:nvPr/>
        </p:nvSpPr>
        <p:spPr>
          <a:xfrm>
            <a:off x="1828800" y="3337560"/>
            <a:ext cx="8503920" cy="11430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9"/>
          <p:cNvSpPr txBox="1"/>
          <p:nvPr/>
        </p:nvSpPr>
        <p:spPr>
          <a:xfrm>
            <a:off x="2011680" y="3584448"/>
            <a:ext cx="81381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MAX risk level becomes the overall MTSS tier</a:t>
            </a:r>
            <a:endParaRPr/>
          </a:p>
        </p:txBody>
      </p:sp>
      <p:graphicFrame>
        <p:nvGraphicFramePr>
          <p:cNvPr id="345" name="Google Shape;345;p9"/>
          <p:cNvGraphicFramePr/>
          <p:nvPr/>
        </p:nvGraphicFramePr>
        <p:xfrm>
          <a:off x="2148840" y="4800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{17226454-313F-46BB-B241-8E902FAE17D3}</a:tableStyleId>
              </a:tblPr>
              <a:tblGrid>
                <a:gridCol w="4114800"/>
                <a:gridCol w="365760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Highest Risk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Overall Tier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14243D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A313A"/>
                          </a:solidFill>
                        </a:rPr>
                        <a:t>LOW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TIER 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A313A"/>
                          </a:solidFill>
                        </a:rPr>
                        <a:t>MEDIUM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A313A"/>
                          </a:solidFill>
                        </a:rPr>
                        <a:t>TIER 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4F7F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rgbClr val="2A313A"/>
                          </a:solidFill>
                        </a:rPr>
                        <a:t>HIGH or SEVERE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/>
                        <a:t>TIER 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6" name="Google Shape;346;p9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347" name="Google Shape;347;p9"/>
          <p:cNvSpPr/>
          <p:nvPr/>
        </p:nvSpPr>
        <p:spPr>
          <a:xfrm>
            <a:off x="8524415" y="5070595"/>
            <a:ext cx="340196" cy="271370"/>
          </a:xfrm>
          <a:prstGeom prst="roundRect">
            <a:avLst>
              <a:gd fmla="val 16667" name="adj"/>
            </a:avLst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9"/>
          <p:cNvSpPr/>
          <p:nvPr/>
        </p:nvSpPr>
        <p:spPr>
          <a:xfrm>
            <a:off x="8524415" y="5405505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524415" y="5734762"/>
            <a:ext cx="340196" cy="255885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9045354" y="5734762"/>
            <a:ext cx="347571" cy="24153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1"/>
          <p:cNvSpPr txBox="1"/>
          <p:nvPr/>
        </p:nvSpPr>
        <p:spPr>
          <a:xfrm>
            <a:off x="548640" y="34747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Tier 1 / Tier 2 / Tier 3 - </a:t>
            </a: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Priority Status</a:t>
            </a:r>
            <a:endParaRPr/>
          </a:p>
        </p:txBody>
      </p:sp>
      <p:sp>
        <p:nvSpPr>
          <p:cNvPr id="357" name="Google Shape;357;p11"/>
          <p:cNvSpPr txBox="1"/>
          <p:nvPr/>
        </p:nvSpPr>
        <p:spPr>
          <a:xfrm>
            <a:off x="566928" y="868680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The tier communicates the intensity of support needed. </a:t>
            </a: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Risk level is translated into an action-oriented school status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685800" y="1554476"/>
            <a:ext cx="3383400" cy="2761200"/>
          </a:xfrm>
          <a:prstGeom prst="roundRect">
            <a:avLst>
              <a:gd fmla="val 16667" name="adj"/>
            </a:avLst>
          </a:prstGeom>
          <a:solidFill>
            <a:srgbClr val="EEF7F0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685800" y="1554476"/>
            <a:ext cx="73200" cy="2909400"/>
          </a:xfrm>
          <a:prstGeom prst="rect">
            <a:avLst/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1"/>
          <p:cNvSpPr txBox="1"/>
          <p:nvPr/>
        </p:nvSpPr>
        <p:spPr>
          <a:xfrm>
            <a:off x="914400" y="17190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TIER 1</a:t>
            </a:r>
            <a:endParaRPr/>
          </a:p>
        </p:txBody>
      </p:sp>
      <p:sp>
        <p:nvSpPr>
          <p:cNvPr id="362" name="Google Shape;362;p11"/>
          <p:cNvSpPr txBox="1"/>
          <p:nvPr/>
        </p:nvSpPr>
        <p:spPr>
          <a:xfrm>
            <a:off x="914400" y="2157984"/>
            <a:ext cx="2971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ON-TRACK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Universal/core supports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Routine monitoring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No targeted intervention required by the risk engine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4389125" y="1554475"/>
            <a:ext cx="3383400" cy="2714100"/>
          </a:xfrm>
          <a:prstGeom prst="roundRect">
            <a:avLst>
              <a:gd fmla="val 16667" name="adj"/>
            </a:avLst>
          </a:prstGeom>
          <a:solidFill>
            <a:srgbClr val="FCF7E9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1"/>
          <p:cNvSpPr/>
          <p:nvPr/>
        </p:nvSpPr>
        <p:spPr>
          <a:xfrm>
            <a:off x="4389124" y="1554476"/>
            <a:ext cx="73200" cy="2909400"/>
          </a:xfrm>
          <a:prstGeom prst="rect">
            <a:avLst/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1"/>
          <p:cNvSpPr txBox="1"/>
          <p:nvPr/>
        </p:nvSpPr>
        <p:spPr>
          <a:xfrm>
            <a:off x="4617720" y="17190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TIER 2</a:t>
            </a:r>
            <a:endParaRPr/>
          </a:p>
        </p:txBody>
      </p:sp>
      <p:sp>
        <p:nvSpPr>
          <p:cNvPr id="366" name="Google Shape;366;p11"/>
          <p:cNvSpPr txBox="1"/>
          <p:nvPr/>
        </p:nvSpPr>
        <p:spPr>
          <a:xfrm>
            <a:off x="4617720" y="2157984"/>
            <a:ext cx="2971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AT-RISK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Targeted intervention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Progress monitoring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Domain-specific action when risk is present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8092450" y="1554475"/>
            <a:ext cx="3383400" cy="2761200"/>
          </a:xfrm>
          <a:prstGeom prst="roundRect">
            <a:avLst>
              <a:gd fmla="val 16667" name="adj"/>
            </a:avLst>
          </a:prstGeom>
          <a:solidFill>
            <a:srgbClr val="FBEFEF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1"/>
          <p:cNvSpPr/>
          <p:nvPr/>
        </p:nvSpPr>
        <p:spPr>
          <a:xfrm>
            <a:off x="8092448" y="1554476"/>
            <a:ext cx="73200" cy="2909400"/>
          </a:xfrm>
          <a:prstGeom prst="rect">
            <a:avLst/>
          </a:prstGeom>
          <a:solidFill>
            <a:srgbClr val="BC434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"/>
          <p:cNvSpPr txBox="1"/>
          <p:nvPr/>
        </p:nvSpPr>
        <p:spPr>
          <a:xfrm>
            <a:off x="8321040" y="1719072"/>
            <a:ext cx="2971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TIER 3</a:t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8321040" y="2157984"/>
            <a:ext cx="29718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u="sng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IMMEDIATE-ACTION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Intensive intervention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Coordinated support</a:t>
            </a:r>
            <a:b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Priority follow-up and monitoring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1986563" y="4611684"/>
            <a:ext cx="786000" cy="449700"/>
          </a:xfrm>
          <a:prstGeom prst="roundRect">
            <a:avLst>
              <a:gd fmla="val 16667" name="adj"/>
            </a:avLst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5710553" y="4611684"/>
            <a:ext cx="786000" cy="449700"/>
          </a:xfrm>
          <a:prstGeom prst="roundRect">
            <a:avLst>
              <a:gd fmla="val 16667" name="adj"/>
            </a:avLst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/>
          <p:nvPr/>
        </p:nvSpPr>
        <p:spPr>
          <a:xfrm>
            <a:off x="9391013" y="4611684"/>
            <a:ext cx="786000" cy="449700"/>
          </a:xfrm>
          <a:prstGeom prst="roundRect">
            <a:avLst>
              <a:gd fmla="val 16667" name="adj"/>
            </a:avLst>
          </a:prstGeom>
          <a:solidFill>
            <a:srgbClr val="FF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1"/>
          <p:cNvSpPr/>
          <p:nvPr/>
        </p:nvSpPr>
        <p:spPr>
          <a:xfrm>
            <a:off x="10398287" y="4611683"/>
            <a:ext cx="786000" cy="449700"/>
          </a:xfrm>
          <a:prstGeom prst="roundRect">
            <a:avLst>
              <a:gd fmla="val 16667" name="adj"/>
            </a:avLst>
          </a:prstGeom>
          <a:solidFill>
            <a:srgbClr val="C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574824" y="5357377"/>
            <a:ext cx="9057600" cy="9867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1645915" y="5446615"/>
            <a:ext cx="9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Key message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1645915" y="5885527"/>
            <a:ext cx="937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The status is not a separate guess—it is the operational translation of the student’s overall tier.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 flipH="1">
            <a:off x="1480323" y="5429488"/>
            <a:ext cx="73200" cy="87750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4" name="Google Shape;384;g3f8ae63ca14_30_1748"/>
          <p:cNvGrpSpPr/>
          <p:nvPr/>
        </p:nvGrpSpPr>
        <p:grpSpPr>
          <a:xfrm>
            <a:off x="548640" y="347472"/>
            <a:ext cx="11064300" cy="502800"/>
            <a:chOff x="0" y="0"/>
            <a:chExt cx="11064300" cy="502800"/>
          </a:xfrm>
        </p:grpSpPr>
        <p:sp>
          <p:nvSpPr>
            <p:cNvPr id="385" name="Google Shape;385;g3f8ae63ca14_30_1748"/>
            <p:cNvSpPr/>
            <p:nvPr/>
          </p:nvSpPr>
          <p:spPr>
            <a:xfrm>
              <a:off x="0" y="0"/>
              <a:ext cx="11064300" cy="502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g3f8ae63ca14_30_1748"/>
            <p:cNvSpPr txBox="1"/>
            <p:nvPr/>
          </p:nvSpPr>
          <p:spPr>
            <a:xfrm>
              <a:off x="0" y="0"/>
              <a:ext cx="11064300" cy="50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59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Essential Components</a:t>
              </a:r>
              <a:endParaRPr b="1" sz="259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7" name="Google Shape;387;g3f8ae63ca14_30_1748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grpSp>
        <p:nvGrpSpPr>
          <p:cNvPr id="388" name="Google Shape;388;g3f8ae63ca14_30_1748"/>
          <p:cNvGrpSpPr/>
          <p:nvPr/>
        </p:nvGrpSpPr>
        <p:grpSpPr>
          <a:xfrm>
            <a:off x="566928" y="868680"/>
            <a:ext cx="10972800" cy="411600"/>
            <a:chOff x="0" y="0"/>
            <a:chExt cx="10972800" cy="411600"/>
          </a:xfrm>
        </p:grpSpPr>
        <p:sp>
          <p:nvSpPr>
            <p:cNvPr id="389" name="Google Shape;389;g3f8ae63ca14_30_1748"/>
            <p:cNvSpPr/>
            <p:nvPr/>
          </p:nvSpPr>
          <p:spPr>
            <a:xfrm>
              <a:off x="0" y="0"/>
              <a:ext cx="10972800" cy="4116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" name="Google Shape;390;g3f8ae63ca14_30_1748"/>
            <p:cNvSpPr txBox="1"/>
            <p:nvPr/>
          </p:nvSpPr>
          <p:spPr>
            <a:xfrm>
              <a:off x="0" y="0"/>
              <a:ext cx="10972800" cy="41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00" spcFirstLastPara="1" rIns="91400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The core operational pillars of the Multi-Tiered System of Supports cycle</a:t>
              </a:r>
              <a:endParaRPr b="0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g3f8ae63ca14_30_1748"/>
          <p:cNvSpPr/>
          <p:nvPr/>
        </p:nvSpPr>
        <p:spPr>
          <a:xfrm>
            <a:off x="548640" y="1207008"/>
            <a:ext cx="1097400" cy="54900"/>
          </a:xfrm>
          <a:prstGeom prst="rect">
            <a:avLst/>
          </a:prstGeom>
          <a:solidFill>
            <a:srgbClr val="2D63A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2" name="Google Shape;392;g3f8ae63ca14_30_1748"/>
          <p:cNvGrpSpPr/>
          <p:nvPr/>
        </p:nvGrpSpPr>
        <p:grpSpPr>
          <a:xfrm>
            <a:off x="6048290" y="1428675"/>
            <a:ext cx="5429400" cy="857400"/>
            <a:chOff x="0" y="0"/>
            <a:chExt cx="5429400" cy="857400"/>
          </a:xfrm>
        </p:grpSpPr>
        <p:sp>
          <p:nvSpPr>
            <p:cNvPr id="393" name="Google Shape;393;g3f8ae63ca14_30_1748"/>
            <p:cNvSpPr/>
            <p:nvPr/>
          </p:nvSpPr>
          <p:spPr>
            <a:xfrm>
              <a:off x="0" y="0"/>
              <a:ext cx="57300" cy="857400"/>
            </a:xfrm>
            <a:prstGeom prst="rect">
              <a:avLst/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g3f8ae63ca14_30_1748"/>
            <p:cNvSpPr txBox="1"/>
            <p:nvPr/>
          </p:nvSpPr>
          <p:spPr>
            <a:xfrm>
              <a:off x="190500" y="0"/>
              <a:ext cx="523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Screening</a:t>
              </a:r>
              <a:endParaRPr b="1" sz="1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Systematic, universal assessment to identify students who may need additional academic</a:t>
              </a:r>
              <a:r>
                <a:rPr lang="en-US" sz="115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, attendance </a:t>
              </a:r>
              <a:r>
                <a:rPr b="0" lang="en-US" sz="115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or behavioral support.</a:t>
              </a:r>
              <a:endParaRPr b="0" sz="115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g3f8ae63ca14_30_1748"/>
          <p:cNvGrpSpPr/>
          <p:nvPr/>
        </p:nvGrpSpPr>
        <p:grpSpPr>
          <a:xfrm>
            <a:off x="6048290" y="2476425"/>
            <a:ext cx="5429400" cy="857400"/>
            <a:chOff x="0" y="0"/>
            <a:chExt cx="5429400" cy="857400"/>
          </a:xfrm>
        </p:grpSpPr>
        <p:sp>
          <p:nvSpPr>
            <p:cNvPr id="396" name="Google Shape;396;g3f8ae63ca14_30_1748"/>
            <p:cNvSpPr/>
            <p:nvPr/>
          </p:nvSpPr>
          <p:spPr>
            <a:xfrm>
              <a:off x="0" y="0"/>
              <a:ext cx="57300" cy="857400"/>
            </a:xfrm>
            <a:prstGeom prst="rect">
              <a:avLst/>
            </a:prstGeom>
            <a:solidFill>
              <a:srgbClr val="2180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g3f8ae63ca14_30_1748"/>
            <p:cNvSpPr txBox="1"/>
            <p:nvPr/>
          </p:nvSpPr>
          <p:spPr>
            <a:xfrm>
              <a:off x="190500" y="0"/>
              <a:ext cx="5238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Progress Monitoring</a:t>
              </a:r>
              <a:endParaRPr b="1" sz="1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Continuous and structured tracking of student performance and rate of learning to evaluate intervention effectiveness.</a:t>
              </a:r>
              <a:endParaRPr b="0" sz="115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g3f8ae63ca14_30_1748"/>
          <p:cNvGrpSpPr/>
          <p:nvPr/>
        </p:nvGrpSpPr>
        <p:grpSpPr>
          <a:xfrm>
            <a:off x="6048290" y="3524175"/>
            <a:ext cx="4692309" cy="857400"/>
            <a:chOff x="0" y="0"/>
            <a:chExt cx="4692309" cy="857400"/>
          </a:xfrm>
        </p:grpSpPr>
        <p:sp>
          <p:nvSpPr>
            <p:cNvPr id="399" name="Google Shape;399;g3f8ae63ca14_30_1748"/>
            <p:cNvSpPr/>
            <p:nvPr/>
          </p:nvSpPr>
          <p:spPr>
            <a:xfrm>
              <a:off x="0" y="0"/>
              <a:ext cx="57300" cy="857400"/>
            </a:xfrm>
            <a:prstGeom prst="rect">
              <a:avLst/>
            </a:prstGeom>
            <a:solidFill>
              <a:srgbClr val="D391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g3f8ae63ca14_30_1748"/>
            <p:cNvSpPr txBox="1"/>
            <p:nvPr/>
          </p:nvSpPr>
          <p:spPr>
            <a:xfrm>
              <a:off x="190509" y="0"/>
              <a:ext cx="450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Multi-Level Prevention System</a:t>
              </a:r>
              <a:endParaRPr b="1" sz="1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A tiered infrastructure (Tiers 1, 2, and 3) providing progressively intense levels of targeted support based on need.</a:t>
              </a:r>
              <a:endParaRPr b="0" sz="115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01" name="Google Shape;401;g3f8ae63ca14_30_1748"/>
          <p:cNvGrpSpPr/>
          <p:nvPr/>
        </p:nvGrpSpPr>
        <p:grpSpPr>
          <a:xfrm>
            <a:off x="6048290" y="4571925"/>
            <a:ext cx="3634810" cy="857400"/>
            <a:chOff x="0" y="0"/>
            <a:chExt cx="3634810" cy="857400"/>
          </a:xfrm>
        </p:grpSpPr>
        <p:sp>
          <p:nvSpPr>
            <p:cNvPr id="402" name="Google Shape;402;g3f8ae63ca14_30_1748"/>
            <p:cNvSpPr/>
            <p:nvPr/>
          </p:nvSpPr>
          <p:spPr>
            <a:xfrm>
              <a:off x="0" y="0"/>
              <a:ext cx="57300" cy="857400"/>
            </a:xfrm>
            <a:prstGeom prst="rect">
              <a:avLst/>
            </a:prstGeom>
            <a:solidFill>
              <a:srgbClr val="BC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g3f8ae63ca14_30_1748"/>
            <p:cNvSpPr txBox="1"/>
            <p:nvPr/>
          </p:nvSpPr>
          <p:spPr>
            <a:xfrm>
              <a:off x="190510" y="0"/>
              <a:ext cx="34443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Data-Based Decision Making</a:t>
              </a:r>
              <a:endParaRPr b="1" sz="1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The central process of using assessment data to coordinate instruction, intervention adjustments, and support planning.</a:t>
              </a:r>
              <a:endParaRPr b="0" sz="115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04" name="Google Shape;404;g3f8ae63ca14_30_1748"/>
          <p:cNvPicPr preferRelativeResize="0"/>
          <p:nvPr/>
        </p:nvPicPr>
        <p:blipFill rotWithShape="1">
          <a:blip r:embed="rId4">
            <a:alphaModFix/>
          </a:blip>
          <a:srcRect b="50" l="0" r="0" t="40"/>
          <a:stretch/>
        </p:blipFill>
        <p:spPr>
          <a:xfrm>
            <a:off x="630725" y="1871625"/>
            <a:ext cx="3975300" cy="36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g3f8ae63ca14_30_1748"/>
          <p:cNvSpPr/>
          <p:nvPr/>
        </p:nvSpPr>
        <p:spPr>
          <a:xfrm>
            <a:off x="7544662" y="323519"/>
            <a:ext cx="4323899" cy="6212748"/>
          </a:xfrm>
          <a:custGeom>
            <a:rect b="b" l="l" r="r" t="t"/>
            <a:pathLst>
              <a:path extrusionOk="0" h="6212748" w="4323899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rgbClr val="7F7F7F">
              <a:alpha val="2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g3f8ae63ca14_30_1748"/>
          <p:cNvSpPr/>
          <p:nvPr/>
        </p:nvSpPr>
        <p:spPr>
          <a:xfrm flipH="1">
            <a:off x="8576660" y="3335867"/>
            <a:ext cx="329190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1" name="Google Shape;411;g3f8ae63ca14_30_1491"/>
          <p:cNvGrpSpPr/>
          <p:nvPr/>
        </p:nvGrpSpPr>
        <p:grpSpPr>
          <a:xfrm>
            <a:off x="762000" y="571500"/>
            <a:ext cx="10668000" cy="1047900"/>
            <a:chOff x="0" y="0"/>
            <a:chExt cx="10668000" cy="1047900"/>
          </a:xfrm>
        </p:grpSpPr>
        <p:sp>
          <p:nvSpPr>
            <p:cNvPr id="412" name="Google Shape;412;g3f8ae63ca14_30_1491"/>
            <p:cNvSpPr txBox="1"/>
            <p:nvPr/>
          </p:nvSpPr>
          <p:spPr>
            <a:xfrm>
              <a:off x="0" y="0"/>
              <a:ext cx="10668000" cy="104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From Identification to Intervention</a:t>
              </a:r>
              <a:endParaRPr b="1" sz="3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sz="13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The system moves from detection to a defined response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t/>
              </a:r>
              <a:endParaRPr sz="15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3" name="Google Shape;413;g3f8ae63ca14_30_1491"/>
            <p:cNvSpPr/>
            <p:nvPr/>
          </p:nvSpPr>
          <p:spPr>
            <a:xfrm>
              <a:off x="0" y="876300"/>
              <a:ext cx="1143000" cy="47700"/>
            </a:xfrm>
            <a:prstGeom prst="rect">
              <a:avLst/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414" name="Google Shape;414;g3f8ae63ca14_30_1491"/>
          <p:cNvCxnSpPr/>
          <p:nvPr/>
        </p:nvCxnSpPr>
        <p:spPr>
          <a:xfrm>
            <a:off x="1047750" y="2857500"/>
            <a:ext cx="9525000" cy="0"/>
          </a:xfrm>
          <a:prstGeom prst="straightConnector1">
            <a:avLst/>
          </a:prstGeom>
          <a:solidFill>
            <a:srgbClr val="FFFFFF"/>
          </a:solidFill>
          <a:ln cap="rnd" cmpd="sng" w="5715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5" name="Google Shape;415;g3f8ae63ca14_30_1491"/>
          <p:cNvSpPr/>
          <p:nvPr/>
        </p:nvSpPr>
        <p:spPr>
          <a:xfrm>
            <a:off x="762000" y="4572000"/>
            <a:ext cx="10668000" cy="1143000"/>
          </a:xfrm>
          <a:prstGeom prst="roundRect">
            <a:avLst>
              <a:gd fmla="val 13333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16" name="Google Shape;416;g3f8ae63ca14_30_1491"/>
          <p:cNvGrpSpPr/>
          <p:nvPr/>
        </p:nvGrpSpPr>
        <p:grpSpPr>
          <a:xfrm>
            <a:off x="95250" y="2362200"/>
            <a:ext cx="1905000" cy="1685925"/>
            <a:chOff x="0" y="76200"/>
            <a:chExt cx="1905000" cy="1685925"/>
          </a:xfrm>
        </p:grpSpPr>
        <p:sp>
          <p:nvSpPr>
            <p:cNvPr id="417" name="Google Shape;417;g3f8ae63ca14_30_1491"/>
            <p:cNvSpPr/>
            <p:nvPr/>
          </p:nvSpPr>
          <p:spPr>
            <a:xfrm>
              <a:off x="457200" y="76200"/>
              <a:ext cx="990600" cy="990600"/>
            </a:xfrm>
            <a:prstGeom prst="ellipse">
              <a:avLst/>
            </a:prstGeom>
            <a:solidFill>
              <a:srgbClr val="2D63AA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g3f8ae63ca14_30_1491"/>
            <p:cNvSpPr/>
            <p:nvPr/>
          </p:nvSpPr>
          <p:spPr>
            <a:xfrm>
              <a:off x="571500" y="190500"/>
              <a:ext cx="762000" cy="762000"/>
            </a:xfrm>
            <a:prstGeom prst="ellipse">
              <a:avLst/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g3f8ae63ca14_30_1491"/>
            <p:cNvSpPr txBox="1"/>
            <p:nvPr/>
          </p:nvSpPr>
          <p:spPr>
            <a:xfrm>
              <a:off x="0" y="19050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01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" name="Google Shape;420;g3f8ae63ca14_30_1491"/>
            <p:cNvSpPr txBox="1"/>
            <p:nvPr/>
          </p:nvSpPr>
          <p:spPr>
            <a:xfrm>
              <a:off x="0" y="119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IDENTIFY</a:t>
              </a:r>
              <a:endParaRPr b="1" sz="1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1" name="Google Shape;421;g3f8ae63ca14_30_1491"/>
          <p:cNvGrpSpPr/>
          <p:nvPr/>
        </p:nvGrpSpPr>
        <p:grpSpPr>
          <a:xfrm>
            <a:off x="2000250" y="2362200"/>
            <a:ext cx="1905000" cy="1685925"/>
            <a:chOff x="0" y="76200"/>
            <a:chExt cx="1905000" cy="1685925"/>
          </a:xfrm>
        </p:grpSpPr>
        <p:sp>
          <p:nvSpPr>
            <p:cNvPr id="422" name="Google Shape;422;g3f8ae63ca14_30_1491"/>
            <p:cNvSpPr/>
            <p:nvPr/>
          </p:nvSpPr>
          <p:spPr>
            <a:xfrm>
              <a:off x="457200" y="76200"/>
              <a:ext cx="990600" cy="990600"/>
            </a:xfrm>
            <a:prstGeom prst="ellipse">
              <a:avLst/>
            </a:prstGeom>
            <a:solidFill>
              <a:srgbClr val="218079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g3f8ae63ca14_30_1491"/>
            <p:cNvSpPr/>
            <p:nvPr/>
          </p:nvSpPr>
          <p:spPr>
            <a:xfrm>
              <a:off x="571500" y="190500"/>
              <a:ext cx="762000" cy="762000"/>
            </a:xfrm>
            <a:prstGeom prst="ellipse">
              <a:avLst/>
            </a:prstGeom>
            <a:solidFill>
              <a:srgbClr val="2180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g3f8ae63ca14_30_1491"/>
            <p:cNvSpPr txBox="1"/>
            <p:nvPr/>
          </p:nvSpPr>
          <p:spPr>
            <a:xfrm>
              <a:off x="0" y="19050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02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" name="Google Shape;425;g3f8ae63ca14_30_1491"/>
            <p:cNvSpPr txBox="1"/>
            <p:nvPr/>
          </p:nvSpPr>
          <p:spPr>
            <a:xfrm>
              <a:off x="0" y="119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CLASSIFY</a:t>
              </a:r>
              <a:endParaRPr b="1" sz="1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26" name="Google Shape;426;g3f8ae63ca14_30_1491"/>
          <p:cNvGrpSpPr/>
          <p:nvPr/>
        </p:nvGrpSpPr>
        <p:grpSpPr>
          <a:xfrm>
            <a:off x="3905250" y="2362200"/>
            <a:ext cx="1905000" cy="1685925"/>
            <a:chOff x="0" y="76200"/>
            <a:chExt cx="1905000" cy="1685925"/>
          </a:xfrm>
        </p:grpSpPr>
        <p:sp>
          <p:nvSpPr>
            <p:cNvPr id="427" name="Google Shape;427;g3f8ae63ca14_30_1491"/>
            <p:cNvSpPr/>
            <p:nvPr/>
          </p:nvSpPr>
          <p:spPr>
            <a:xfrm>
              <a:off x="457200" y="76200"/>
              <a:ext cx="990600" cy="990600"/>
            </a:xfrm>
            <a:prstGeom prst="ellipse">
              <a:avLst/>
            </a:prstGeom>
            <a:solidFill>
              <a:srgbClr val="D39126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g3f8ae63ca14_30_1491"/>
            <p:cNvSpPr/>
            <p:nvPr/>
          </p:nvSpPr>
          <p:spPr>
            <a:xfrm>
              <a:off x="571500" y="190500"/>
              <a:ext cx="762000" cy="762000"/>
            </a:xfrm>
            <a:prstGeom prst="ellipse">
              <a:avLst/>
            </a:prstGeom>
            <a:solidFill>
              <a:srgbClr val="D391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g3f8ae63ca14_30_1491"/>
            <p:cNvSpPr txBox="1"/>
            <p:nvPr/>
          </p:nvSpPr>
          <p:spPr>
            <a:xfrm>
              <a:off x="0" y="19050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03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0" name="Google Shape;430;g3f8ae63ca14_30_1491"/>
            <p:cNvSpPr txBox="1"/>
            <p:nvPr/>
          </p:nvSpPr>
          <p:spPr>
            <a:xfrm>
              <a:off x="0" y="119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PRIORITIZE</a:t>
              </a:r>
              <a:endParaRPr b="1" sz="1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1" name="Google Shape;431;g3f8ae63ca14_30_1491"/>
          <p:cNvGrpSpPr/>
          <p:nvPr/>
        </p:nvGrpSpPr>
        <p:grpSpPr>
          <a:xfrm>
            <a:off x="5810250" y="2362200"/>
            <a:ext cx="1905000" cy="1685925"/>
            <a:chOff x="0" y="76200"/>
            <a:chExt cx="1905000" cy="1685925"/>
          </a:xfrm>
        </p:grpSpPr>
        <p:sp>
          <p:nvSpPr>
            <p:cNvPr id="432" name="Google Shape;432;g3f8ae63ca14_30_1491"/>
            <p:cNvSpPr/>
            <p:nvPr/>
          </p:nvSpPr>
          <p:spPr>
            <a:xfrm>
              <a:off x="457200" y="76200"/>
              <a:ext cx="990600" cy="990600"/>
            </a:xfrm>
            <a:prstGeom prst="ellipse">
              <a:avLst/>
            </a:prstGeom>
            <a:solidFill>
              <a:srgbClr val="BC4343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g3f8ae63ca14_30_1491"/>
            <p:cNvSpPr/>
            <p:nvPr/>
          </p:nvSpPr>
          <p:spPr>
            <a:xfrm>
              <a:off x="571500" y="190500"/>
              <a:ext cx="762000" cy="762000"/>
            </a:xfrm>
            <a:prstGeom prst="ellipse">
              <a:avLst/>
            </a:prstGeom>
            <a:solidFill>
              <a:srgbClr val="BC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g3f8ae63ca14_30_1491"/>
            <p:cNvSpPr txBox="1"/>
            <p:nvPr/>
          </p:nvSpPr>
          <p:spPr>
            <a:xfrm>
              <a:off x="0" y="19050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04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" name="Google Shape;435;g3f8ae63ca14_30_1491"/>
            <p:cNvSpPr txBox="1"/>
            <p:nvPr/>
          </p:nvSpPr>
          <p:spPr>
            <a:xfrm>
              <a:off x="0" y="119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ACT</a:t>
              </a:r>
              <a:endParaRPr b="1" sz="1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6" name="Google Shape;436;g3f8ae63ca14_30_1491"/>
          <p:cNvGrpSpPr/>
          <p:nvPr/>
        </p:nvGrpSpPr>
        <p:grpSpPr>
          <a:xfrm>
            <a:off x="7715250" y="2362200"/>
            <a:ext cx="1905000" cy="1685925"/>
            <a:chOff x="0" y="76200"/>
            <a:chExt cx="1905000" cy="1685925"/>
          </a:xfrm>
        </p:grpSpPr>
        <p:sp>
          <p:nvSpPr>
            <p:cNvPr id="437" name="Google Shape;437;g3f8ae63ca14_30_1491"/>
            <p:cNvSpPr/>
            <p:nvPr/>
          </p:nvSpPr>
          <p:spPr>
            <a:xfrm>
              <a:off x="457200" y="76200"/>
              <a:ext cx="990600" cy="990600"/>
            </a:xfrm>
            <a:prstGeom prst="ellipse">
              <a:avLst/>
            </a:prstGeom>
            <a:solidFill>
              <a:srgbClr val="3D8956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g3f8ae63ca14_30_1491"/>
            <p:cNvSpPr/>
            <p:nvPr/>
          </p:nvSpPr>
          <p:spPr>
            <a:xfrm>
              <a:off x="571500" y="190500"/>
              <a:ext cx="762000" cy="762000"/>
            </a:xfrm>
            <a:prstGeom prst="ellipse">
              <a:avLst/>
            </a:pr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g3f8ae63ca14_30_1491"/>
            <p:cNvSpPr txBox="1"/>
            <p:nvPr/>
          </p:nvSpPr>
          <p:spPr>
            <a:xfrm>
              <a:off x="0" y="19050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05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" name="Google Shape;440;g3f8ae63ca14_30_1491"/>
            <p:cNvSpPr txBox="1"/>
            <p:nvPr/>
          </p:nvSpPr>
          <p:spPr>
            <a:xfrm>
              <a:off x="0" y="119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MONITOR</a:t>
              </a:r>
              <a:endParaRPr b="1" sz="1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1" name="Google Shape;441;g3f8ae63ca14_30_1491"/>
          <p:cNvGrpSpPr/>
          <p:nvPr/>
        </p:nvGrpSpPr>
        <p:grpSpPr>
          <a:xfrm>
            <a:off x="9620250" y="2362200"/>
            <a:ext cx="1905000" cy="1685925"/>
            <a:chOff x="0" y="76200"/>
            <a:chExt cx="1905000" cy="1685925"/>
          </a:xfrm>
        </p:grpSpPr>
        <p:sp>
          <p:nvSpPr>
            <p:cNvPr id="442" name="Google Shape;442;g3f8ae63ca14_30_1491"/>
            <p:cNvSpPr/>
            <p:nvPr/>
          </p:nvSpPr>
          <p:spPr>
            <a:xfrm>
              <a:off x="457200" y="76200"/>
              <a:ext cx="990600" cy="990600"/>
            </a:xfrm>
            <a:prstGeom prst="ellipse">
              <a:avLst/>
            </a:prstGeom>
            <a:solidFill>
              <a:srgbClr val="7030A0">
                <a:alpha val="15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g3f8ae63ca14_30_1491"/>
            <p:cNvSpPr/>
            <p:nvPr/>
          </p:nvSpPr>
          <p:spPr>
            <a:xfrm>
              <a:off x="571500" y="190500"/>
              <a:ext cx="762000" cy="76200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g3f8ae63ca14_30_1491"/>
            <p:cNvSpPr txBox="1"/>
            <p:nvPr/>
          </p:nvSpPr>
          <p:spPr>
            <a:xfrm>
              <a:off x="0" y="190500"/>
              <a:ext cx="19050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5" name="Google Shape;445;g3f8ae63ca14_30_1491"/>
            <p:cNvSpPr txBox="1"/>
            <p:nvPr/>
          </p:nvSpPr>
          <p:spPr>
            <a:xfrm>
              <a:off x="0" y="1190625"/>
              <a:ext cx="190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RTI</a:t>
              </a:r>
              <a:endParaRPr b="1" sz="1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6" name="Google Shape;446;g3f8ae63ca14_30_1491"/>
          <p:cNvSpPr/>
          <p:nvPr/>
        </p:nvSpPr>
        <p:spPr>
          <a:xfrm>
            <a:off x="762000" y="4572000"/>
            <a:ext cx="76200" cy="1143000"/>
          </a:xfrm>
          <a:prstGeom prst="roundRect">
            <a:avLst>
              <a:gd fmla="val 50000" name="adj"/>
            </a:avLst>
          </a:prstGeom>
          <a:solidFill>
            <a:srgbClr val="2D63A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7" name="Google Shape;447;g3f8ae63ca14_30_1491"/>
          <p:cNvGrpSpPr/>
          <p:nvPr/>
        </p:nvGrpSpPr>
        <p:grpSpPr>
          <a:xfrm>
            <a:off x="1047750" y="4714875"/>
            <a:ext cx="10096500" cy="904875"/>
            <a:chOff x="0" y="0"/>
            <a:chExt cx="10096500" cy="904875"/>
          </a:xfrm>
        </p:grpSpPr>
        <p:sp>
          <p:nvSpPr>
            <p:cNvPr id="448" name="Google Shape;448;g3f8ae63ca14_30_1491"/>
            <p:cNvSpPr txBox="1"/>
            <p:nvPr/>
          </p:nvSpPr>
          <p:spPr>
            <a:xfrm>
              <a:off x="0" y="0"/>
              <a:ext cx="1009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Operational principle</a:t>
              </a:r>
              <a:endParaRPr b="1" sz="1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9" name="Google Shape;449;g3f8ae63ca14_30_1491"/>
            <p:cNvSpPr txBox="1"/>
            <p:nvPr/>
          </p:nvSpPr>
          <p:spPr>
            <a:xfrm>
              <a:off x="0" y="333375"/>
              <a:ext cx="100965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Risk identification only matters when it produces a clear, accessible path to action.</a:t>
              </a:r>
              <a:endParaRPr b="0" sz="15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50" name="Google Shape;450;g3f8ae63ca14_30_1491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5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5"/>
          <p:cNvSpPr txBox="1"/>
          <p:nvPr/>
        </p:nvSpPr>
        <p:spPr>
          <a:xfrm>
            <a:off x="548640" y="34747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Teacher → Course → Content Area → School</a:t>
            </a:r>
            <a:endParaRPr/>
          </a:p>
        </p:txBody>
      </p:sp>
      <p:sp>
        <p:nvSpPr>
          <p:cNvPr id="457" name="Google Shape;457;p15"/>
          <p:cNvSpPr txBox="1"/>
          <p:nvPr/>
        </p:nvSpPr>
        <p:spPr>
          <a:xfrm>
            <a:off x="566928" y="86868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The same student signal becomes useful to different roles</a:t>
            </a: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548640" y="1207008"/>
            <a:ext cx="1097400" cy="5490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"/>
          <p:cNvSpPr/>
          <p:nvPr/>
        </p:nvSpPr>
        <p:spPr>
          <a:xfrm>
            <a:off x="571500" y="1714500"/>
            <a:ext cx="2514600" cy="3238500"/>
          </a:xfrm>
          <a:prstGeom prst="roundRect">
            <a:avLst>
              <a:gd fmla="val 6060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3429000" y="1714500"/>
            <a:ext cx="2514600" cy="3238500"/>
          </a:xfrm>
          <a:prstGeom prst="roundRect">
            <a:avLst>
              <a:gd fmla="val 6060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6286500" y="1714500"/>
            <a:ext cx="2514600" cy="3238500"/>
          </a:xfrm>
          <a:prstGeom prst="roundRect">
            <a:avLst>
              <a:gd fmla="val 6060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9144000" y="1714500"/>
            <a:ext cx="2514600" cy="3238500"/>
          </a:xfrm>
          <a:prstGeom prst="roundRect">
            <a:avLst>
              <a:gd fmla="val 6060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571500" y="1714500"/>
            <a:ext cx="76200" cy="3238500"/>
          </a:xfrm>
          <a:prstGeom prst="roundRect">
            <a:avLst>
              <a:gd fmla="val 50000" name="adj"/>
            </a:avLst>
          </a:prstGeom>
          <a:solidFill>
            <a:srgbClr val="2D63A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3429000" y="1714500"/>
            <a:ext cx="76200" cy="3238500"/>
          </a:xfrm>
          <a:prstGeom prst="roundRect">
            <a:avLst>
              <a:gd fmla="val 50000" name="adj"/>
            </a:avLst>
          </a:prstGeom>
          <a:solidFill>
            <a:srgbClr val="218079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6286500" y="1714500"/>
            <a:ext cx="76200" cy="3238500"/>
          </a:xfrm>
          <a:prstGeom prst="roundRect">
            <a:avLst>
              <a:gd fmla="val 50000" name="adj"/>
            </a:avLst>
          </a:prstGeom>
          <a:solidFill>
            <a:srgbClr val="D3912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9144000" y="1714500"/>
            <a:ext cx="76200" cy="3238500"/>
          </a:xfrm>
          <a:prstGeom prst="roundRect">
            <a:avLst>
              <a:gd fmla="val 50000" name="adj"/>
            </a:avLst>
          </a:prstGeom>
          <a:solidFill>
            <a:srgbClr val="3D8956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5"/>
          <p:cNvSpPr txBox="1"/>
          <p:nvPr/>
        </p:nvSpPr>
        <p:spPr>
          <a:xfrm>
            <a:off x="800100" y="1714500"/>
            <a:ext cx="2095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0" spcFirstLastPara="1" rIns="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Teacher</a:t>
            </a:r>
            <a:endParaRPr b="1" sz="28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Immediate classroom action</a:t>
            </a:r>
            <a:endParaRPr b="0" sz="17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Course roster + intervention list</a:t>
            </a:r>
            <a:endParaRPr b="0" sz="21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 txBox="1"/>
          <p:nvPr/>
        </p:nvSpPr>
        <p:spPr>
          <a:xfrm>
            <a:off x="3657600" y="1714500"/>
            <a:ext cx="2095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0" spcFirstLastPara="1" rIns="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Coach</a:t>
            </a:r>
            <a:endParaRPr b="1" sz="28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Course-level coordination</a:t>
            </a:r>
            <a:endParaRPr b="0" sz="17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Master by course</a:t>
            </a:r>
            <a:endParaRPr b="0" sz="21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 txBox="1"/>
          <p:nvPr/>
        </p:nvSpPr>
        <p:spPr>
          <a:xfrm>
            <a:off x="6515100" y="1714500"/>
            <a:ext cx="20955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0" spcFirstLastPara="1" rIns="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Content Lead / AP</a:t>
            </a:r>
            <a:endParaRPr b="1" sz="28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Cross-course oversight</a:t>
            </a:r>
            <a:endParaRPr b="0" sz="17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Master by content area</a:t>
            </a:r>
            <a:endParaRPr b="0" sz="21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5"/>
          <p:cNvSpPr txBox="1"/>
          <p:nvPr/>
        </p:nvSpPr>
        <p:spPr>
          <a:xfrm>
            <a:off x="9340020" y="1714500"/>
            <a:ext cx="2359200" cy="3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228600" lIns="0" spcFirstLastPara="1" rIns="0" wrap="square" tIns="228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School Leadership</a:t>
            </a:r>
            <a:endParaRPr b="1" sz="28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7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Cross-domain action</a:t>
            </a:r>
            <a:endParaRPr b="0" sz="17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School Wide</a:t>
            </a:r>
            <a:r>
              <a:rPr b="0"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 academic</a:t>
            </a:r>
            <a:r>
              <a:rPr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lang="en-US" sz="21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attendance/behavior lists + dashboard</a:t>
            </a:r>
            <a:endParaRPr b="0" sz="21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1" name="Google Shape;471;p15"/>
          <p:cNvGrpSpPr/>
          <p:nvPr/>
        </p:nvGrpSpPr>
        <p:grpSpPr>
          <a:xfrm>
            <a:off x="3162300" y="3286125"/>
            <a:ext cx="190575" cy="95400"/>
            <a:chOff x="38100" y="142875"/>
            <a:chExt cx="190575" cy="95400"/>
          </a:xfrm>
        </p:grpSpPr>
        <p:cxnSp>
          <p:nvCxnSpPr>
            <p:cNvPr id="472" name="Google Shape;472;p15"/>
            <p:cNvCxnSpPr/>
            <p:nvPr/>
          </p:nvCxnSpPr>
          <p:spPr>
            <a:xfrm>
              <a:off x="38100" y="19050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3" name="Google Shape;473;p15"/>
            <p:cNvSpPr/>
            <p:nvPr/>
          </p:nvSpPr>
          <p:spPr>
            <a:xfrm>
              <a:off x="180975" y="142875"/>
              <a:ext cx="477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4" name="Google Shape;474;p15"/>
          <p:cNvGrpSpPr/>
          <p:nvPr/>
        </p:nvGrpSpPr>
        <p:grpSpPr>
          <a:xfrm>
            <a:off x="6019800" y="3286125"/>
            <a:ext cx="190575" cy="95400"/>
            <a:chOff x="38100" y="142875"/>
            <a:chExt cx="190575" cy="95400"/>
          </a:xfrm>
        </p:grpSpPr>
        <p:cxnSp>
          <p:nvCxnSpPr>
            <p:cNvPr id="475" name="Google Shape;475;p15"/>
            <p:cNvCxnSpPr/>
            <p:nvPr/>
          </p:nvCxnSpPr>
          <p:spPr>
            <a:xfrm>
              <a:off x="38100" y="19050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6" name="Google Shape;476;p15"/>
            <p:cNvSpPr/>
            <p:nvPr/>
          </p:nvSpPr>
          <p:spPr>
            <a:xfrm>
              <a:off x="180975" y="142875"/>
              <a:ext cx="477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7" name="Google Shape;477;p15"/>
          <p:cNvGrpSpPr/>
          <p:nvPr/>
        </p:nvGrpSpPr>
        <p:grpSpPr>
          <a:xfrm>
            <a:off x="8877300" y="3286125"/>
            <a:ext cx="190575" cy="95400"/>
            <a:chOff x="38100" y="142875"/>
            <a:chExt cx="190575" cy="95400"/>
          </a:xfrm>
        </p:grpSpPr>
        <p:cxnSp>
          <p:nvCxnSpPr>
            <p:cNvPr id="478" name="Google Shape;478;p15"/>
            <p:cNvCxnSpPr/>
            <p:nvPr/>
          </p:nvCxnSpPr>
          <p:spPr>
            <a:xfrm>
              <a:off x="38100" y="190500"/>
              <a:ext cx="190500" cy="0"/>
            </a:xfrm>
            <a:prstGeom prst="straightConnector1">
              <a:avLst/>
            </a:prstGeom>
            <a:solidFill>
              <a:srgbClr val="FFFFFF"/>
            </a:solidFill>
            <a:ln cap="rnd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9" name="Google Shape;479;p15"/>
            <p:cNvSpPr/>
            <p:nvPr/>
          </p:nvSpPr>
          <p:spPr>
            <a:xfrm>
              <a:off x="180975" y="142875"/>
              <a:ext cx="47700" cy="9540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60000"/>
                  </a:lnTo>
                  <a:lnTo>
                    <a:pt x="0" y="120000"/>
                  </a:lnTo>
                </a:path>
              </a:pathLst>
            </a:custGeom>
            <a:solidFill>
              <a:srgbClr val="000000">
                <a:alpha val="0"/>
              </a:srgbClr>
            </a:solidFill>
            <a:ln cap="rnd" cmpd="sng" w="19050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15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1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4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Academic Intervention Infrastructure</a:t>
            </a:r>
            <a:endParaRPr/>
          </a:p>
        </p:txBody>
      </p:sp>
      <p:sp>
        <p:nvSpPr>
          <p:cNvPr id="487" name="Google Shape;487;p14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Academic intervention is organized at multiple operational levels</a:t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594360" y="1554480"/>
            <a:ext cx="2514600" cy="31089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/>
          <p:nvPr/>
        </p:nvSpPr>
        <p:spPr>
          <a:xfrm>
            <a:off x="594360" y="1554480"/>
            <a:ext cx="73152" cy="310896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4"/>
          <p:cNvSpPr txBox="1"/>
          <p:nvPr/>
        </p:nvSpPr>
        <p:spPr>
          <a:xfrm>
            <a:off x="822960" y="1719072"/>
            <a:ext cx="19025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Teacher Level</a:t>
            </a:r>
            <a:endParaRPr/>
          </a:p>
        </p:txBody>
      </p:sp>
      <p:sp>
        <p:nvSpPr>
          <p:cNvPr id="492" name="Google Shape;492;p14"/>
          <p:cNvSpPr txBox="1"/>
          <p:nvPr/>
        </p:nvSpPr>
        <p:spPr>
          <a:xfrm>
            <a:off x="822949" y="2205470"/>
            <a:ext cx="2194500" cy="2308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Teacher EWS spreadsheets identify students needing academic intervention.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tandard</a:t>
            </a: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Needing Intervention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SNI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) is the last column in the 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spreadsheet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3" name="Google Shape;493;p14"/>
          <p:cNvCxnSpPr/>
          <p:nvPr/>
        </p:nvCxnSpPr>
        <p:spPr>
          <a:xfrm>
            <a:off x="3154680" y="310896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2D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4" name="Google Shape;494;p14"/>
          <p:cNvSpPr/>
          <p:nvPr/>
        </p:nvSpPr>
        <p:spPr>
          <a:xfrm>
            <a:off x="3520440" y="1554480"/>
            <a:ext cx="2514600" cy="31089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/>
          <p:nvPr/>
        </p:nvSpPr>
        <p:spPr>
          <a:xfrm>
            <a:off x="3520440" y="1554480"/>
            <a:ext cx="73152" cy="3108960"/>
          </a:xfrm>
          <a:prstGeom prst="rect">
            <a:avLst/>
          </a:prstGeom>
          <a:solidFill>
            <a:srgbClr val="2180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4"/>
          <p:cNvSpPr txBox="1"/>
          <p:nvPr/>
        </p:nvSpPr>
        <p:spPr>
          <a:xfrm>
            <a:off x="3749039" y="1719072"/>
            <a:ext cx="178914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Course Level</a:t>
            </a:r>
            <a:endParaRPr/>
          </a:p>
        </p:txBody>
      </p:sp>
      <p:sp>
        <p:nvSpPr>
          <p:cNvPr id="497" name="Google Shape;497;p14"/>
          <p:cNvSpPr txBox="1"/>
          <p:nvPr/>
        </p:nvSpPr>
        <p:spPr>
          <a:xfrm>
            <a:off x="3716472" y="2150775"/>
            <a:ext cx="2331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Course master spreadsheet consolidates students across teachers in the same course.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Standard Needing Intervention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SNI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) is the last column in the spreadsheet 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14"/>
          <p:cNvCxnSpPr/>
          <p:nvPr/>
        </p:nvCxnSpPr>
        <p:spPr>
          <a:xfrm>
            <a:off x="6080760" y="310896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2D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9" name="Google Shape;499;p14"/>
          <p:cNvSpPr/>
          <p:nvPr/>
        </p:nvSpPr>
        <p:spPr>
          <a:xfrm>
            <a:off x="6446520" y="1554480"/>
            <a:ext cx="2514600" cy="31089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/>
          <p:nvPr/>
        </p:nvSpPr>
        <p:spPr>
          <a:xfrm>
            <a:off x="6446520" y="1554480"/>
            <a:ext cx="73152" cy="3108960"/>
          </a:xfrm>
          <a:prstGeom prst="rect">
            <a:avLst/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4"/>
          <p:cNvSpPr txBox="1"/>
          <p:nvPr/>
        </p:nvSpPr>
        <p:spPr>
          <a:xfrm>
            <a:off x="6675120" y="1719072"/>
            <a:ext cx="187243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Content Area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6675125" y="2179581"/>
            <a:ext cx="2194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Master spreadsheet provides an area-wide view of academic intervention needs.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Standard Needing Intervention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SNI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) is the last column in the spreadsheet 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03" name="Google Shape;503;p14"/>
          <p:cNvCxnSpPr/>
          <p:nvPr/>
        </p:nvCxnSpPr>
        <p:spPr>
          <a:xfrm>
            <a:off x="9006840" y="3108960"/>
            <a:ext cx="365760" cy="0"/>
          </a:xfrm>
          <a:prstGeom prst="straightConnector1">
            <a:avLst/>
          </a:prstGeom>
          <a:noFill/>
          <a:ln cap="flat" cmpd="sng" w="31750">
            <a:solidFill>
              <a:srgbClr val="2D63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04" name="Google Shape;504;p14"/>
          <p:cNvSpPr/>
          <p:nvPr/>
        </p:nvSpPr>
        <p:spPr>
          <a:xfrm>
            <a:off x="9372600" y="1554480"/>
            <a:ext cx="2194560" cy="310896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/>
          <p:nvPr/>
        </p:nvSpPr>
        <p:spPr>
          <a:xfrm>
            <a:off x="9372600" y="1554480"/>
            <a:ext cx="73152" cy="3108960"/>
          </a:xfrm>
          <a:prstGeom prst="rect">
            <a:avLst/>
          </a:prstGeom>
          <a:solidFill>
            <a:srgbClr val="3D895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4"/>
          <p:cNvSpPr txBox="1"/>
          <p:nvPr/>
        </p:nvSpPr>
        <p:spPr>
          <a:xfrm>
            <a:off x="9601200" y="1719075"/>
            <a:ext cx="190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School-Wide</a:t>
            </a:r>
            <a:endParaRPr/>
          </a:p>
        </p:txBody>
      </p:sp>
      <p:sp>
        <p:nvSpPr>
          <p:cNvPr id="507" name="Google Shape;507;p14"/>
          <p:cNvSpPr txBox="1"/>
          <p:nvPr/>
        </p:nvSpPr>
        <p:spPr>
          <a:xfrm>
            <a:off x="9548574" y="2159622"/>
            <a:ext cx="2058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Leadership/support teams can access consolidated student intervention information.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Response To I</a:t>
            </a:r>
            <a:r>
              <a:rPr b="1" lang="en-US" sz="16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ntervention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1"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RTI</a:t>
            </a:r>
            <a:r>
              <a:rPr lang="en-US" sz="16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) is the yellow highlight column </a:t>
            </a:r>
            <a:endParaRPr sz="1600">
              <a:solidFill>
                <a:srgbClr val="2A31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4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509" name="Google Shape;509;p14"/>
          <p:cNvSpPr/>
          <p:nvPr/>
        </p:nvSpPr>
        <p:spPr>
          <a:xfrm>
            <a:off x="879650" y="4834931"/>
            <a:ext cx="17892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Teacher Level Academic EWS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/>
          <p:nvPr/>
        </p:nvSpPr>
        <p:spPr>
          <a:xfrm>
            <a:off x="3901450" y="4788400"/>
            <a:ext cx="17892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Course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Level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 Academic EWS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4"/>
          <p:cNvSpPr/>
          <p:nvPr/>
        </p:nvSpPr>
        <p:spPr>
          <a:xfrm>
            <a:off x="6923275" y="4831153"/>
            <a:ext cx="17892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8"/>
              </a:rPr>
              <a:t>Content Area Academic EWS 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9"/>
              </a:rPr>
              <a:t>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4"/>
          <p:cNvSpPr/>
          <p:nvPr/>
        </p:nvSpPr>
        <p:spPr>
          <a:xfrm>
            <a:off x="9575275" y="4788401"/>
            <a:ext cx="17892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0"/>
              </a:rPr>
              <a:t>School-Wide Academic EWS 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4"/>
          <p:cNvSpPr/>
          <p:nvPr/>
        </p:nvSpPr>
        <p:spPr>
          <a:xfrm>
            <a:off x="3576105" y="5864700"/>
            <a:ext cx="25146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1"/>
              </a:rPr>
              <a:t>Course Level Academic Interventions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9575263" y="5864708"/>
            <a:ext cx="17892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12"/>
              </a:rPr>
              <a:t>School-Wide Academic  RTI 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6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6"/>
          <p:cNvSpPr txBox="1"/>
          <p:nvPr/>
        </p:nvSpPr>
        <p:spPr>
          <a:xfrm>
            <a:off x="548640" y="347472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Attendance &amp; Behavior: Schoolwide Intervention Infrastructure</a:t>
            </a:r>
            <a:endParaRPr/>
          </a:p>
        </p:txBody>
      </p:sp>
      <p:sp>
        <p:nvSpPr>
          <p:cNvPr id="521" name="Google Shape;521;p16"/>
          <p:cNvSpPr txBox="1"/>
          <p:nvPr/>
        </p:nvSpPr>
        <p:spPr>
          <a:xfrm>
            <a:off x="566928" y="86868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Two centralized spreadsheets make action lists easy to find and use</a:t>
            </a:r>
            <a:endParaRPr/>
          </a:p>
        </p:txBody>
      </p:sp>
      <p:sp>
        <p:nvSpPr>
          <p:cNvPr id="522" name="Google Shape;522;p16"/>
          <p:cNvSpPr/>
          <p:nvPr/>
        </p:nvSpPr>
        <p:spPr>
          <a:xfrm>
            <a:off x="548640" y="1207008"/>
            <a:ext cx="1097280" cy="54864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6"/>
          <p:cNvSpPr/>
          <p:nvPr/>
        </p:nvSpPr>
        <p:spPr>
          <a:xfrm>
            <a:off x="914400" y="1645920"/>
            <a:ext cx="4572000" cy="20574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6"/>
          <p:cNvSpPr/>
          <p:nvPr/>
        </p:nvSpPr>
        <p:spPr>
          <a:xfrm>
            <a:off x="914400" y="1645920"/>
            <a:ext cx="73152" cy="2057400"/>
          </a:xfrm>
          <a:prstGeom prst="rect">
            <a:avLst/>
          </a:prstGeom>
          <a:solidFill>
            <a:srgbClr val="21807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6"/>
          <p:cNvSpPr txBox="1"/>
          <p:nvPr/>
        </p:nvSpPr>
        <p:spPr>
          <a:xfrm>
            <a:off x="1143000" y="1810512"/>
            <a:ext cx="41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School-Wide Attendance Intervention</a:t>
            </a:r>
            <a:endParaRPr/>
          </a:p>
        </p:txBody>
      </p:sp>
      <p:sp>
        <p:nvSpPr>
          <p:cNvPr id="526" name="Google Shape;526;p16"/>
          <p:cNvSpPr txBox="1"/>
          <p:nvPr/>
        </p:nvSpPr>
        <p:spPr>
          <a:xfrm>
            <a:off x="1143000" y="2249424"/>
            <a:ext cx="416052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A dedicated workbook provides the student list for attendance-focused support, follow-up, and intervention.</a:t>
            </a:r>
            <a:endParaRPr/>
          </a:p>
        </p:txBody>
      </p:sp>
      <p:sp>
        <p:nvSpPr>
          <p:cNvPr id="527" name="Google Shape;527;p16"/>
          <p:cNvSpPr/>
          <p:nvPr/>
        </p:nvSpPr>
        <p:spPr>
          <a:xfrm>
            <a:off x="6675120" y="1645920"/>
            <a:ext cx="4572000" cy="20574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6"/>
          <p:cNvSpPr/>
          <p:nvPr/>
        </p:nvSpPr>
        <p:spPr>
          <a:xfrm>
            <a:off x="6675120" y="1645920"/>
            <a:ext cx="73152" cy="2057400"/>
          </a:xfrm>
          <a:prstGeom prst="rect">
            <a:avLst/>
          </a:prstGeom>
          <a:solidFill>
            <a:srgbClr val="D3912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6"/>
          <p:cNvSpPr txBox="1"/>
          <p:nvPr/>
        </p:nvSpPr>
        <p:spPr>
          <a:xfrm>
            <a:off x="6903720" y="1810512"/>
            <a:ext cx="416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School-Wide</a:t>
            </a: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 Behavior Intervention</a:t>
            </a:r>
            <a:endParaRPr/>
          </a:p>
        </p:txBody>
      </p:sp>
      <p:sp>
        <p:nvSpPr>
          <p:cNvPr id="530" name="Google Shape;530;p16"/>
          <p:cNvSpPr txBox="1"/>
          <p:nvPr/>
        </p:nvSpPr>
        <p:spPr>
          <a:xfrm>
            <a:off x="6903720" y="2249424"/>
            <a:ext cx="4160520" cy="1344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A dedicated workbook provides the student list for behavior-focused support, follow-up, and intervention.</a:t>
            </a:r>
            <a:endParaRPr/>
          </a:p>
        </p:txBody>
      </p:sp>
      <p:sp>
        <p:nvSpPr>
          <p:cNvPr id="531" name="Google Shape;531;p16"/>
          <p:cNvSpPr/>
          <p:nvPr/>
        </p:nvSpPr>
        <p:spPr>
          <a:xfrm>
            <a:off x="1828800" y="5162688"/>
            <a:ext cx="8503800" cy="1097400"/>
          </a:xfrm>
          <a:prstGeom prst="roundRect">
            <a:avLst>
              <a:gd fmla="val 16667" name="adj"/>
            </a:avLst>
          </a:prstGeom>
          <a:solidFill>
            <a:srgbClr val="F4F7FA"/>
          </a:solidFill>
          <a:ln cap="flat" cmpd="sng" w="9525">
            <a:solidFill>
              <a:srgbClr val="DEE4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6"/>
          <p:cNvSpPr/>
          <p:nvPr/>
        </p:nvSpPr>
        <p:spPr>
          <a:xfrm>
            <a:off x="1828800" y="5147999"/>
            <a:ext cx="73200" cy="109740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6"/>
          <p:cNvSpPr txBox="1"/>
          <p:nvPr/>
        </p:nvSpPr>
        <p:spPr>
          <a:xfrm>
            <a:off x="2057400" y="5327280"/>
            <a:ext cx="809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Designed for easy access</a:t>
            </a:r>
            <a:endParaRPr/>
          </a:p>
        </p:txBody>
      </p:sp>
      <p:sp>
        <p:nvSpPr>
          <p:cNvPr id="534" name="Google Shape;534;p16"/>
          <p:cNvSpPr txBox="1"/>
          <p:nvPr/>
        </p:nvSpPr>
        <p:spPr>
          <a:xfrm>
            <a:off x="2057400" y="5766192"/>
            <a:ext cx="809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rPr>
              <a:t>Counselors • APs • Principal • School Psychologist • Other student-support personnel</a:t>
            </a:r>
            <a:endParaRPr/>
          </a:p>
        </p:txBody>
      </p:sp>
      <p:sp>
        <p:nvSpPr>
          <p:cNvPr id="535" name="Google Shape;535;p16"/>
          <p:cNvSpPr txBox="1"/>
          <p:nvPr/>
        </p:nvSpPr>
        <p:spPr>
          <a:xfrm>
            <a:off x="548640" y="6473952"/>
            <a:ext cx="1686680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sp>
        <p:nvSpPr>
          <p:cNvPr id="536" name="Google Shape;536;p16"/>
          <p:cNvSpPr/>
          <p:nvPr/>
        </p:nvSpPr>
        <p:spPr>
          <a:xfrm>
            <a:off x="1495361" y="3924095"/>
            <a:ext cx="34101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School-Wide  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Attendance Intervention</a:t>
            </a: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6"/>
          <p:cNvSpPr/>
          <p:nvPr/>
        </p:nvSpPr>
        <p:spPr>
          <a:xfrm>
            <a:off x="7278949" y="3975508"/>
            <a:ext cx="3410100" cy="915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School-Wide  Behavior Intervention Sample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f8ae63ca14_114_697"/>
          <p:cNvSpPr/>
          <p:nvPr/>
        </p:nvSpPr>
        <p:spPr>
          <a:xfrm>
            <a:off x="952500" y="2000250"/>
            <a:ext cx="76200" cy="2095500"/>
          </a:xfrm>
          <a:prstGeom prst="roundRect">
            <a:avLst>
              <a:gd fmla="val 50000" name="adj"/>
            </a:avLst>
          </a:prstGeom>
          <a:solidFill>
            <a:srgbClr val="2D63A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g3f8ae63ca14_114_697"/>
          <p:cNvSpPr txBox="1"/>
          <p:nvPr/>
        </p:nvSpPr>
        <p:spPr>
          <a:xfrm>
            <a:off x="1238250" y="1905000"/>
            <a:ext cx="57150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About the System Use &amp; Integration</a:t>
            </a:r>
            <a:endParaRPr b="1" sz="38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125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lang="en-US" sz="14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ser roles, and operational workflows for the intervention system.</a:t>
            </a:r>
            <a:endParaRPr b="0" sz="14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4" name="Google Shape;544;g3f8ae63ca14_114_69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713" y="1885950"/>
            <a:ext cx="7764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g3f8ae63ca14_114_6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67713" y="3629025"/>
            <a:ext cx="776400" cy="5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6" name="Google Shape;546;g3f8ae63ca14_114_6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62950" y="1905000"/>
            <a:ext cx="38100" cy="22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g3f8ae63ca14_114_697"/>
          <p:cNvSpPr/>
          <p:nvPr/>
        </p:nvSpPr>
        <p:spPr>
          <a:xfrm>
            <a:off x="7953375" y="1476375"/>
            <a:ext cx="857400" cy="857400"/>
          </a:xfrm>
          <a:prstGeom prst="ellipse">
            <a:avLst/>
          </a:prstGeom>
          <a:solidFill>
            <a:srgbClr val="F4F7FA"/>
          </a:solidFill>
          <a:ln cap="flat" cmpd="sng" w="28575">
            <a:solidFill>
              <a:srgbClr val="2D63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g3f8ae63ca14_114_697"/>
          <p:cNvSpPr txBox="1"/>
          <p:nvPr/>
        </p:nvSpPr>
        <p:spPr>
          <a:xfrm>
            <a:off x="8143875" y="1701927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D63AA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settings</a:t>
            </a:r>
            <a:endParaRPr sz="2400">
              <a:solidFill>
                <a:srgbClr val="2D63AA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49" name="Google Shape;549;g3f8ae63ca14_114_697"/>
          <p:cNvSpPr txBox="1"/>
          <p:nvPr/>
        </p:nvSpPr>
        <p:spPr>
          <a:xfrm>
            <a:off x="7429500" y="2428875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System Workflows</a:t>
            </a:r>
            <a:endParaRPr b="1" sz="12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8ae63ca14_114_697"/>
          <p:cNvSpPr/>
          <p:nvPr/>
        </p:nvSpPr>
        <p:spPr>
          <a:xfrm>
            <a:off x="9572625" y="2619375"/>
            <a:ext cx="857400" cy="857400"/>
          </a:xfrm>
          <a:prstGeom prst="ellipse">
            <a:avLst/>
          </a:prstGeom>
          <a:solidFill>
            <a:srgbClr val="F4F7FA"/>
          </a:solidFill>
          <a:ln cap="flat" cmpd="sng" w="28575">
            <a:solidFill>
              <a:srgbClr val="2180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g3f8ae63ca14_114_697"/>
          <p:cNvSpPr txBox="1"/>
          <p:nvPr/>
        </p:nvSpPr>
        <p:spPr>
          <a:xfrm>
            <a:off x="9763125" y="2844927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218079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sync</a:t>
            </a:r>
            <a:endParaRPr sz="2400">
              <a:solidFill>
                <a:srgbClr val="218079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52" name="Google Shape;552;g3f8ae63ca14_114_697"/>
          <p:cNvSpPr txBox="1"/>
          <p:nvPr/>
        </p:nvSpPr>
        <p:spPr>
          <a:xfrm>
            <a:off x="9048750" y="3571875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Power BI Dashboard</a:t>
            </a:r>
            <a:endParaRPr b="1" sz="12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g3f8ae63ca14_114_697"/>
          <p:cNvSpPr/>
          <p:nvPr/>
        </p:nvSpPr>
        <p:spPr>
          <a:xfrm>
            <a:off x="7953375" y="3762375"/>
            <a:ext cx="857400" cy="857400"/>
          </a:xfrm>
          <a:prstGeom prst="ellipse">
            <a:avLst/>
          </a:prstGeom>
          <a:solidFill>
            <a:srgbClr val="F4F7FA"/>
          </a:solidFill>
          <a:ln cap="flat" cmpd="sng" w="28575">
            <a:solidFill>
              <a:srgbClr val="D391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g3f8ae63ca14_114_697"/>
          <p:cNvSpPr txBox="1"/>
          <p:nvPr/>
        </p:nvSpPr>
        <p:spPr>
          <a:xfrm>
            <a:off x="8143875" y="3987927"/>
            <a:ext cx="4764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D39126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groups</a:t>
            </a:r>
            <a:endParaRPr sz="2400">
              <a:solidFill>
                <a:srgbClr val="D39126"/>
              </a:solidFill>
              <a:latin typeface="Material Icons"/>
              <a:ea typeface="Material Icons"/>
              <a:cs typeface="Material Icons"/>
              <a:sym typeface="Material Icons"/>
            </a:endParaRPr>
          </a:p>
        </p:txBody>
      </p:sp>
      <p:sp>
        <p:nvSpPr>
          <p:cNvPr id="555" name="Google Shape;555;g3f8ae63ca14_114_697"/>
          <p:cNvSpPr txBox="1"/>
          <p:nvPr/>
        </p:nvSpPr>
        <p:spPr>
          <a:xfrm>
            <a:off x="7429500" y="4714875"/>
            <a:ext cx="1905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Stakeholder Roles</a:t>
            </a:r>
            <a:endParaRPr b="1" sz="12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6" name="Google Shape;556;g3f8ae63ca14_114_697"/>
          <p:cNvGrpSpPr/>
          <p:nvPr/>
        </p:nvGrpSpPr>
        <p:grpSpPr>
          <a:xfrm>
            <a:off x="548640" y="6473952"/>
            <a:ext cx="1686600" cy="215400"/>
            <a:chOff x="0" y="0"/>
            <a:chExt cx="1686600" cy="215400"/>
          </a:xfrm>
        </p:grpSpPr>
        <p:sp>
          <p:nvSpPr>
            <p:cNvPr id="557" name="Google Shape;557;g3f8ae63ca14_114_697"/>
            <p:cNvSpPr/>
            <p:nvPr/>
          </p:nvSpPr>
          <p:spPr>
            <a:xfrm>
              <a:off x="0" y="0"/>
              <a:ext cx="16866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g3f8ae63ca14_114_697"/>
            <p:cNvSpPr txBox="1"/>
            <p:nvPr/>
          </p:nvSpPr>
          <p:spPr>
            <a:xfrm>
              <a:off x="0" y="0"/>
              <a:ext cx="1686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MSTSS • Early Warning to Action •</a:t>
              </a:r>
              <a:endParaRPr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9" name="Google Shape;559;g3f8ae63ca14_114_697"/>
          <p:cNvSpPr/>
          <p:nvPr/>
        </p:nvSpPr>
        <p:spPr>
          <a:xfrm>
            <a:off x="7544662" y="323519"/>
            <a:ext cx="4323899" cy="6212748"/>
          </a:xfrm>
          <a:custGeom>
            <a:rect b="b" l="l" r="r" t="t"/>
            <a:pathLst>
              <a:path extrusionOk="0" h="6212748" w="4323899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rgbClr val="7F7F7F">
              <a:alpha val="251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g3f8ae63ca14_114_697"/>
          <p:cNvSpPr/>
          <p:nvPr/>
        </p:nvSpPr>
        <p:spPr>
          <a:xfrm flipH="1">
            <a:off x="8576660" y="3335867"/>
            <a:ext cx="329190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20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20"/>
          <p:cNvSpPr txBox="1"/>
          <p:nvPr/>
        </p:nvSpPr>
        <p:spPr>
          <a:xfrm>
            <a:off x="206575" y="106700"/>
            <a:ext cx="5612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The MTSS Early Warning Ecosystem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1" sz="28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20"/>
          <p:cNvSpPr txBox="1"/>
          <p:nvPr/>
        </p:nvSpPr>
        <p:spPr>
          <a:xfrm>
            <a:off x="218028" y="627908"/>
            <a:ext cx="68712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The framework closes the loop, a</a:t>
            </a: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 connected architecture from data to action</a:t>
            </a:r>
            <a:endParaRPr sz="1300">
              <a:solidFill>
                <a:srgbClr val="66707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8" name="Google Shape;568;p20"/>
          <p:cNvGrpSpPr/>
          <p:nvPr/>
        </p:nvGrpSpPr>
        <p:grpSpPr>
          <a:xfrm>
            <a:off x="522625" y="1065380"/>
            <a:ext cx="11048850" cy="2162137"/>
            <a:chOff x="571500" y="1619250"/>
            <a:chExt cx="11048850" cy="2667000"/>
          </a:xfrm>
        </p:grpSpPr>
        <p:grpSp>
          <p:nvGrpSpPr>
            <p:cNvPr id="569" name="Google Shape;569;p20"/>
            <p:cNvGrpSpPr/>
            <p:nvPr/>
          </p:nvGrpSpPr>
          <p:grpSpPr>
            <a:xfrm>
              <a:off x="571500" y="1619250"/>
              <a:ext cx="2000100" cy="2667000"/>
              <a:chOff x="0" y="0"/>
              <a:chExt cx="2000100" cy="2667000"/>
            </a:xfrm>
          </p:grpSpPr>
          <p:sp>
            <p:nvSpPr>
              <p:cNvPr id="570" name="Google Shape;570;p20"/>
              <p:cNvSpPr/>
              <p:nvPr/>
            </p:nvSpPr>
            <p:spPr>
              <a:xfrm>
                <a:off x="0" y="0"/>
                <a:ext cx="2000100" cy="2667000"/>
              </a:xfrm>
              <a:prstGeom prst="roundRect">
                <a:avLst>
                  <a:gd fmla="val 7619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0" y="0"/>
                <a:ext cx="573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2D63A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0"/>
              <p:cNvSpPr txBox="1"/>
              <p:nvPr/>
            </p:nvSpPr>
            <p:spPr>
              <a:xfrm>
                <a:off x="190500" y="228600"/>
                <a:ext cx="1619100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2D63A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storage</a:t>
                </a:r>
                <a:endParaRPr sz="24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</a:t>
                </a:r>
                <a:endParaRPr b="1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Evidence enters the engine</a:t>
                </a:r>
                <a:endParaRPr sz="125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3" name="Google Shape;573;p20"/>
            <p:cNvSpPr txBox="1"/>
            <p:nvPr/>
          </p:nvSpPr>
          <p:spPr>
            <a:xfrm>
              <a:off x="2571750" y="2836164"/>
              <a:ext cx="257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574" name="Google Shape;574;p20"/>
            <p:cNvGrpSpPr/>
            <p:nvPr/>
          </p:nvGrpSpPr>
          <p:grpSpPr>
            <a:xfrm>
              <a:off x="2828925" y="1619250"/>
              <a:ext cx="2000100" cy="2667000"/>
              <a:chOff x="0" y="0"/>
              <a:chExt cx="2000100" cy="2667000"/>
            </a:xfrm>
          </p:grpSpPr>
          <p:sp>
            <p:nvSpPr>
              <p:cNvPr id="575" name="Google Shape;575;p20"/>
              <p:cNvSpPr/>
              <p:nvPr/>
            </p:nvSpPr>
            <p:spPr>
              <a:xfrm>
                <a:off x="0" y="0"/>
                <a:ext cx="2000100" cy="2667000"/>
              </a:xfrm>
              <a:prstGeom prst="roundRect">
                <a:avLst>
                  <a:gd fmla="val 7619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>
                <a:off x="0" y="0"/>
                <a:ext cx="573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21807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0"/>
              <p:cNvSpPr txBox="1"/>
              <p:nvPr/>
            </p:nvSpPr>
            <p:spPr>
              <a:xfrm>
                <a:off x="190500" y="228600"/>
                <a:ext cx="1619100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21807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fact_check</a:t>
                </a:r>
                <a:endParaRPr sz="2400">
                  <a:solidFill>
                    <a:srgbClr val="21807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DECISION</a:t>
                </a:r>
                <a:endParaRPr b="1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Risk + tier + priority</a:t>
                </a:r>
                <a:endParaRPr sz="125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78" name="Google Shape;578;p20"/>
            <p:cNvSpPr txBox="1"/>
            <p:nvPr/>
          </p:nvSpPr>
          <p:spPr>
            <a:xfrm>
              <a:off x="4829175" y="2836164"/>
              <a:ext cx="257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579" name="Google Shape;579;p20"/>
            <p:cNvGrpSpPr/>
            <p:nvPr/>
          </p:nvGrpSpPr>
          <p:grpSpPr>
            <a:xfrm>
              <a:off x="5095875" y="1619250"/>
              <a:ext cx="2000100" cy="2667000"/>
              <a:chOff x="0" y="0"/>
              <a:chExt cx="2000100" cy="2667000"/>
            </a:xfrm>
          </p:grpSpPr>
          <p:sp>
            <p:nvSpPr>
              <p:cNvPr id="580" name="Google Shape;580;p20"/>
              <p:cNvSpPr/>
              <p:nvPr/>
            </p:nvSpPr>
            <p:spPr>
              <a:xfrm>
                <a:off x="0" y="0"/>
                <a:ext cx="2000100" cy="2667000"/>
              </a:xfrm>
              <a:prstGeom prst="roundRect">
                <a:avLst>
                  <a:gd fmla="val 7619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20"/>
              <p:cNvSpPr/>
              <p:nvPr/>
            </p:nvSpPr>
            <p:spPr>
              <a:xfrm>
                <a:off x="0" y="0"/>
                <a:ext cx="573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D391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20"/>
              <p:cNvSpPr txBox="1"/>
              <p:nvPr/>
            </p:nvSpPr>
            <p:spPr>
              <a:xfrm>
                <a:off x="190500" y="228600"/>
                <a:ext cx="1619100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D391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assignment_turned_in</a:t>
                </a:r>
                <a:endParaRPr sz="2400">
                  <a:solidFill>
                    <a:srgbClr val="D391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INTERVENTION</a:t>
                </a:r>
                <a:endParaRPr b="1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Student appears in the right action list</a:t>
                </a:r>
                <a:endParaRPr sz="125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3" name="Google Shape;583;p20"/>
            <p:cNvSpPr txBox="1"/>
            <p:nvPr/>
          </p:nvSpPr>
          <p:spPr>
            <a:xfrm>
              <a:off x="7096125" y="2836164"/>
              <a:ext cx="257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584" name="Google Shape;584;p20"/>
            <p:cNvGrpSpPr/>
            <p:nvPr/>
          </p:nvGrpSpPr>
          <p:grpSpPr>
            <a:xfrm>
              <a:off x="7353300" y="1619250"/>
              <a:ext cx="2000100" cy="2667000"/>
              <a:chOff x="0" y="0"/>
              <a:chExt cx="2000100" cy="2667000"/>
            </a:xfrm>
          </p:grpSpPr>
          <p:sp>
            <p:nvSpPr>
              <p:cNvPr id="585" name="Google Shape;585;p20"/>
              <p:cNvSpPr/>
              <p:nvPr/>
            </p:nvSpPr>
            <p:spPr>
              <a:xfrm>
                <a:off x="0" y="0"/>
                <a:ext cx="2000100" cy="2667000"/>
              </a:xfrm>
              <a:prstGeom prst="roundRect">
                <a:avLst>
                  <a:gd fmla="val 7619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20"/>
              <p:cNvSpPr/>
              <p:nvPr/>
            </p:nvSpPr>
            <p:spPr>
              <a:xfrm>
                <a:off x="0" y="0"/>
                <a:ext cx="573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3D89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20"/>
              <p:cNvSpPr txBox="1"/>
              <p:nvPr/>
            </p:nvSpPr>
            <p:spPr>
              <a:xfrm>
                <a:off x="190500" y="228600"/>
                <a:ext cx="1619100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3D895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visibility</a:t>
                </a:r>
                <a:endParaRPr sz="24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MONITORING</a:t>
                </a:r>
                <a:endParaRPr b="1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Teams review response and next steps</a:t>
                </a:r>
                <a:endParaRPr sz="125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8" name="Google Shape;588;p20"/>
            <p:cNvSpPr txBox="1"/>
            <p:nvPr/>
          </p:nvSpPr>
          <p:spPr>
            <a:xfrm>
              <a:off x="9353550" y="2836164"/>
              <a:ext cx="257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4A3B8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chevron_right</a:t>
              </a:r>
              <a:endParaRPr sz="1800">
                <a:solidFill>
                  <a:srgbClr val="94A3B8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grpSp>
          <p:nvGrpSpPr>
            <p:cNvPr id="589" name="Google Shape;589;p20"/>
            <p:cNvGrpSpPr/>
            <p:nvPr/>
          </p:nvGrpSpPr>
          <p:grpSpPr>
            <a:xfrm>
              <a:off x="9620250" y="1619250"/>
              <a:ext cx="2000100" cy="2667000"/>
              <a:chOff x="0" y="0"/>
              <a:chExt cx="2000100" cy="2667000"/>
            </a:xfrm>
          </p:grpSpPr>
          <p:sp>
            <p:nvSpPr>
              <p:cNvPr id="590" name="Google Shape;590;p20"/>
              <p:cNvSpPr/>
              <p:nvPr/>
            </p:nvSpPr>
            <p:spPr>
              <a:xfrm>
                <a:off x="0" y="0"/>
                <a:ext cx="2000100" cy="2667000"/>
              </a:xfrm>
              <a:prstGeom prst="roundRect">
                <a:avLst>
                  <a:gd fmla="val 7619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20"/>
              <p:cNvSpPr/>
              <p:nvPr/>
            </p:nvSpPr>
            <p:spPr>
              <a:xfrm>
                <a:off x="0" y="0"/>
                <a:ext cx="573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7030A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20"/>
              <p:cNvSpPr txBox="1"/>
              <p:nvPr/>
            </p:nvSpPr>
            <p:spPr>
              <a:xfrm>
                <a:off x="190500" y="228600"/>
                <a:ext cx="1619100" cy="2209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7030A0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track_changes</a:t>
                </a:r>
                <a:endParaRPr sz="2400">
                  <a:solidFill>
                    <a:srgbClr val="7030A0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b="1" lang="en-US" sz="16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RTI</a:t>
                </a:r>
                <a:endParaRPr b="1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125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Teams analyze intervention effectiveness</a:t>
                </a:r>
                <a:endParaRPr sz="125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93" name="Google Shape;593;p20"/>
          <p:cNvSpPr txBox="1"/>
          <p:nvPr/>
        </p:nvSpPr>
        <p:spPr>
          <a:xfrm>
            <a:off x="548640" y="6571691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  <p:grpSp>
        <p:nvGrpSpPr>
          <p:cNvPr id="594" name="Google Shape;594;p20"/>
          <p:cNvGrpSpPr/>
          <p:nvPr/>
        </p:nvGrpSpPr>
        <p:grpSpPr>
          <a:xfrm>
            <a:off x="198752" y="4203285"/>
            <a:ext cx="11826711" cy="2270650"/>
            <a:chOff x="647700" y="3069243"/>
            <a:chExt cx="10887150" cy="2741007"/>
          </a:xfrm>
        </p:grpSpPr>
        <p:grpSp>
          <p:nvGrpSpPr>
            <p:cNvPr id="595" name="Google Shape;595;p20"/>
            <p:cNvGrpSpPr/>
            <p:nvPr/>
          </p:nvGrpSpPr>
          <p:grpSpPr>
            <a:xfrm>
              <a:off x="647700" y="3069243"/>
              <a:ext cx="3286200" cy="2741007"/>
              <a:chOff x="0" y="-74007"/>
              <a:chExt cx="3286200" cy="2741007"/>
            </a:xfrm>
          </p:grpSpPr>
          <p:sp>
            <p:nvSpPr>
              <p:cNvPr id="596" name="Google Shape;596;p20"/>
              <p:cNvSpPr/>
              <p:nvPr/>
            </p:nvSpPr>
            <p:spPr>
              <a:xfrm>
                <a:off x="0" y="0"/>
                <a:ext cx="3286200" cy="2667000"/>
              </a:xfrm>
              <a:prstGeom prst="roundRect">
                <a:avLst>
                  <a:gd fmla="val 5714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20"/>
              <p:cNvSpPr/>
              <p:nvPr/>
            </p:nvSpPr>
            <p:spPr>
              <a:xfrm>
                <a:off x="0" y="0"/>
                <a:ext cx="762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2D63AA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20"/>
              <p:cNvSpPr txBox="1"/>
              <p:nvPr/>
            </p:nvSpPr>
            <p:spPr>
              <a:xfrm>
                <a:off x="285750" y="-74007"/>
                <a:ext cx="27147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Input Domains</a:t>
                </a:r>
                <a:endParaRPr b="1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2D63A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Comprehensive student data</a:t>
                </a:r>
                <a:endParaRPr b="1" sz="1400">
                  <a:solidFill>
                    <a:srgbClr val="2D63A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Academic progress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Attendance tracking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Behavior indicators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9" name="Google Shape;599;p20"/>
            <p:cNvGrpSpPr/>
            <p:nvPr/>
          </p:nvGrpSpPr>
          <p:grpSpPr>
            <a:xfrm>
              <a:off x="4448175" y="3143250"/>
              <a:ext cx="3286200" cy="2667000"/>
              <a:chOff x="0" y="0"/>
              <a:chExt cx="3286200" cy="2667000"/>
            </a:xfrm>
          </p:grpSpPr>
          <p:sp>
            <p:nvSpPr>
              <p:cNvPr id="600" name="Google Shape;600;p20"/>
              <p:cNvSpPr/>
              <p:nvPr/>
            </p:nvSpPr>
            <p:spPr>
              <a:xfrm>
                <a:off x="0" y="0"/>
                <a:ext cx="3286200" cy="2667000"/>
              </a:xfrm>
              <a:prstGeom prst="roundRect">
                <a:avLst>
                  <a:gd fmla="val 5714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20"/>
              <p:cNvSpPr/>
              <p:nvPr/>
            </p:nvSpPr>
            <p:spPr>
              <a:xfrm>
                <a:off x="0" y="0"/>
                <a:ext cx="762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D3912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20"/>
              <p:cNvSpPr txBox="1"/>
              <p:nvPr/>
            </p:nvSpPr>
            <p:spPr>
              <a:xfrm>
                <a:off x="285750" y="0"/>
                <a:ext cx="27147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Support Tiers</a:t>
                </a:r>
                <a:endParaRPr b="1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D3912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Systematic intervention levels</a:t>
                </a:r>
                <a:endParaRPr b="1" sz="1400">
                  <a:solidFill>
                    <a:srgbClr val="D3912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b="1" lang="en-US" sz="15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Tier 1:</a:t>
                </a: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Universal Core Instruction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b="1" lang="en-US" sz="15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Tier 2:</a:t>
                </a: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Targeted Small Groups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b="1" lang="en-US" sz="15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Tier 3:</a:t>
                </a: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Intensive Individual Support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3" name="Google Shape;603;p20"/>
            <p:cNvGrpSpPr/>
            <p:nvPr/>
          </p:nvGrpSpPr>
          <p:grpSpPr>
            <a:xfrm>
              <a:off x="8248650" y="3143250"/>
              <a:ext cx="3286200" cy="2667000"/>
              <a:chOff x="0" y="0"/>
              <a:chExt cx="3286200" cy="2667000"/>
            </a:xfrm>
          </p:grpSpPr>
          <p:sp>
            <p:nvSpPr>
              <p:cNvPr id="604" name="Google Shape;604;p20"/>
              <p:cNvSpPr/>
              <p:nvPr/>
            </p:nvSpPr>
            <p:spPr>
              <a:xfrm>
                <a:off x="0" y="0"/>
                <a:ext cx="3286200" cy="2667000"/>
              </a:xfrm>
              <a:prstGeom prst="roundRect">
                <a:avLst>
                  <a:gd fmla="val 5714" name="adj"/>
                </a:avLst>
              </a:prstGeom>
              <a:solidFill>
                <a:srgbClr val="F4F7FA"/>
              </a:solidFill>
              <a:ln cap="flat" cmpd="sng" w="9525">
                <a:solidFill>
                  <a:srgbClr val="DEE4EB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20"/>
              <p:cNvSpPr/>
              <p:nvPr/>
            </p:nvSpPr>
            <p:spPr>
              <a:xfrm>
                <a:off x="0" y="0"/>
                <a:ext cx="76200" cy="2667000"/>
              </a:xfrm>
              <a:prstGeom prst="roundRect">
                <a:avLst>
                  <a:gd fmla="val 50000" name="adj"/>
                </a:avLst>
              </a:prstGeom>
              <a:solidFill>
                <a:srgbClr val="3D895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20"/>
              <p:cNvSpPr txBox="1"/>
              <p:nvPr/>
            </p:nvSpPr>
            <p:spPr>
              <a:xfrm>
                <a:off x="285750" y="0"/>
                <a:ext cx="27147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Execution Scope</a:t>
                </a:r>
                <a:endParaRPr b="1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450"/>
                  </a:spcBef>
                  <a:spcAft>
                    <a:spcPts val="0"/>
                  </a:spcAft>
                  <a:buNone/>
                </a:pPr>
                <a:r>
                  <a:rPr b="1" lang="en-US" sz="1400">
                    <a:solidFill>
                      <a:srgbClr val="3D895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Stakeholder accountability</a:t>
                </a:r>
                <a:endParaRPr b="1" sz="1400">
                  <a:solidFill>
                    <a:srgbClr val="3D895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15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Teacher-led intervention files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Coach &amp; Content-area leaders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3238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2A313A"/>
                  </a:buClr>
                  <a:buSzPts val="1500"/>
                  <a:buFont typeface="Calibri"/>
                  <a:buChar char="●"/>
                </a:pPr>
                <a:r>
                  <a:rPr lang="en-US" sz="1500">
                    <a:solidFill>
                      <a:srgbClr val="2A313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Schoolwide strategic action</a:t>
                </a:r>
                <a:endParaRPr sz="150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07" name="Google Shape;607;p20"/>
          <p:cNvGrpSpPr/>
          <p:nvPr/>
        </p:nvGrpSpPr>
        <p:grpSpPr>
          <a:xfrm>
            <a:off x="2724137" y="3391298"/>
            <a:ext cx="6645826" cy="725294"/>
            <a:chOff x="-14883632" y="791056"/>
            <a:chExt cx="23466900" cy="2506200"/>
          </a:xfrm>
        </p:grpSpPr>
        <p:sp>
          <p:nvSpPr>
            <p:cNvPr id="608" name="Google Shape;608;p20"/>
            <p:cNvSpPr/>
            <p:nvPr/>
          </p:nvSpPr>
          <p:spPr>
            <a:xfrm>
              <a:off x="-14883632" y="791056"/>
              <a:ext cx="23466900" cy="2506200"/>
            </a:xfrm>
            <a:prstGeom prst="roundRect">
              <a:avLst>
                <a:gd fmla="val 14545" name="adj"/>
              </a:avLst>
            </a:prstGeom>
            <a:solidFill>
              <a:srgbClr val="F4F7FA"/>
            </a:solidFill>
            <a:ln cap="flat" cmpd="sng" w="9525">
              <a:solidFill>
                <a:srgbClr val="DEE4E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20"/>
            <p:cNvSpPr txBox="1"/>
            <p:nvPr/>
          </p:nvSpPr>
          <p:spPr>
            <a:xfrm>
              <a:off x="-14088019" y="1102470"/>
              <a:ext cx="22253100" cy="188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Closing the loop</a:t>
              </a:r>
              <a:endParaRPr b="1" sz="1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350">
                  <a:solidFill>
                    <a:srgbClr val="2A313A"/>
                  </a:solidFill>
                  <a:latin typeface="Calibri"/>
                  <a:ea typeface="Calibri"/>
                  <a:cs typeface="Calibri"/>
                  <a:sym typeface="Calibri"/>
                </a:rPr>
                <a:t>The goal is not simply to identify students at risk—it is to ensure the right people can act.</a:t>
              </a:r>
              <a:endParaRPr sz="1350">
                <a:solidFill>
                  <a:srgbClr val="2A313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17"/>
          <p:cNvSpPr/>
          <p:nvPr/>
        </p:nvSpPr>
        <p:spPr>
          <a:xfrm>
            <a:off x="305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7"/>
          <p:cNvSpPr txBox="1"/>
          <p:nvPr/>
        </p:nvSpPr>
        <p:spPr>
          <a:xfrm>
            <a:off x="548640" y="34747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Who Uses the Intervention System?</a:t>
            </a:r>
            <a:endParaRPr/>
          </a:p>
        </p:txBody>
      </p:sp>
      <p:sp>
        <p:nvSpPr>
          <p:cNvPr id="616" name="Google Shape;616;p17"/>
          <p:cNvSpPr txBox="1"/>
          <p:nvPr/>
        </p:nvSpPr>
        <p:spPr>
          <a:xfrm>
            <a:off x="594403" y="870680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Different stakeholders need different levels of operational detail</a:t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548640" y="1207008"/>
            <a:ext cx="1097400" cy="54900"/>
          </a:xfrm>
          <a:prstGeom prst="rect">
            <a:avLst/>
          </a:prstGeom>
          <a:solidFill>
            <a:srgbClr val="2D63A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8" name="Google Shape;618;p17"/>
          <p:cNvGrpSpPr/>
          <p:nvPr/>
        </p:nvGrpSpPr>
        <p:grpSpPr>
          <a:xfrm>
            <a:off x="571500" y="1714500"/>
            <a:ext cx="2057400" cy="4000500"/>
            <a:chOff x="0" y="0"/>
            <a:chExt cx="2057400" cy="4000500"/>
          </a:xfrm>
        </p:grpSpPr>
        <p:sp>
          <p:nvSpPr>
            <p:cNvPr id="619" name="Google Shape;619;p17"/>
            <p:cNvSpPr/>
            <p:nvPr/>
          </p:nvSpPr>
          <p:spPr>
            <a:xfrm>
              <a:off x="0" y="0"/>
              <a:ext cx="2057400" cy="4000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17"/>
            <p:cNvSpPr txBox="1"/>
            <p:nvPr/>
          </p:nvSpPr>
          <p:spPr>
            <a:xfrm>
              <a:off x="228600" y="266700"/>
              <a:ext cx="1600200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school</a:t>
              </a:r>
              <a:endParaRPr sz="3200">
                <a:solidFill>
                  <a:srgbClr val="2D63A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Teachers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D63AA"/>
                  </a:solidFill>
                  <a:latin typeface="Calibri"/>
                  <a:ea typeface="Calibri"/>
                  <a:cs typeface="Calibri"/>
                  <a:sym typeface="Calibri"/>
                </a:rPr>
                <a:t>Academic intervention</a:t>
              </a:r>
              <a:endParaRPr b="1" sz="1200">
                <a:solidFill>
                  <a:srgbClr val="2D63A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Act on course-specific student lists</a:t>
              </a:r>
              <a:endParaRPr b="0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2" name="Google Shape;622;p17"/>
          <p:cNvGrpSpPr/>
          <p:nvPr/>
        </p:nvGrpSpPr>
        <p:grpSpPr>
          <a:xfrm>
            <a:off x="2819400" y="1714500"/>
            <a:ext cx="2057400" cy="4000500"/>
            <a:chOff x="0" y="0"/>
            <a:chExt cx="2057400" cy="4000500"/>
          </a:xfrm>
        </p:grpSpPr>
        <p:sp>
          <p:nvSpPr>
            <p:cNvPr id="623" name="Google Shape;623;p17"/>
            <p:cNvSpPr/>
            <p:nvPr/>
          </p:nvSpPr>
          <p:spPr>
            <a:xfrm>
              <a:off x="0" y="0"/>
              <a:ext cx="2057400" cy="4000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21807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17"/>
            <p:cNvSpPr txBox="1"/>
            <p:nvPr/>
          </p:nvSpPr>
          <p:spPr>
            <a:xfrm>
              <a:off x="228600" y="266700"/>
              <a:ext cx="1600200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21807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3200">
                <a:solidFill>
                  <a:srgbClr val="21807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Coaches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218079"/>
                  </a:solidFill>
                  <a:latin typeface="Calibri"/>
                  <a:ea typeface="Calibri"/>
                  <a:cs typeface="Calibri"/>
                  <a:sym typeface="Calibri"/>
                </a:rPr>
                <a:t>Course master</a:t>
              </a:r>
              <a:endParaRPr b="1" sz="1200">
                <a:solidFill>
                  <a:srgbClr val="21807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Coordinate intervention across a course</a:t>
              </a:r>
              <a:endParaRPr b="0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26" name="Google Shape;626;p17"/>
          <p:cNvGrpSpPr/>
          <p:nvPr/>
        </p:nvGrpSpPr>
        <p:grpSpPr>
          <a:xfrm>
            <a:off x="5067300" y="1714500"/>
            <a:ext cx="2057400" cy="4000500"/>
            <a:chOff x="0" y="0"/>
            <a:chExt cx="2057400" cy="4000500"/>
          </a:xfrm>
        </p:grpSpPr>
        <p:sp>
          <p:nvSpPr>
            <p:cNvPr id="627" name="Google Shape;627;p17"/>
            <p:cNvSpPr/>
            <p:nvPr/>
          </p:nvSpPr>
          <p:spPr>
            <a:xfrm>
              <a:off x="0" y="0"/>
              <a:ext cx="2057400" cy="4000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D3912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17"/>
            <p:cNvSpPr txBox="1"/>
            <p:nvPr/>
          </p:nvSpPr>
          <p:spPr>
            <a:xfrm>
              <a:off x="228600" y="266700"/>
              <a:ext cx="1600200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D3912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menu_book</a:t>
              </a:r>
              <a:endParaRPr sz="3200">
                <a:solidFill>
                  <a:srgbClr val="D3912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Content Leaders/APs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D39126"/>
                  </a:solidFill>
                  <a:latin typeface="Calibri"/>
                  <a:ea typeface="Calibri"/>
                  <a:cs typeface="Calibri"/>
                  <a:sym typeface="Calibri"/>
                </a:rPr>
                <a:t>Content-area master</a:t>
              </a:r>
              <a:endParaRPr b="1" sz="1200">
                <a:solidFill>
                  <a:srgbClr val="D3912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Monitor intervention across courses</a:t>
              </a:r>
              <a:endParaRPr b="0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0" name="Google Shape;630;p17"/>
          <p:cNvGrpSpPr/>
          <p:nvPr/>
        </p:nvGrpSpPr>
        <p:grpSpPr>
          <a:xfrm>
            <a:off x="7315200" y="1714500"/>
            <a:ext cx="2057400" cy="4000500"/>
            <a:chOff x="0" y="0"/>
            <a:chExt cx="2057400" cy="4000500"/>
          </a:xfrm>
        </p:grpSpPr>
        <p:sp>
          <p:nvSpPr>
            <p:cNvPr id="631" name="Google Shape;631;p17"/>
            <p:cNvSpPr/>
            <p:nvPr/>
          </p:nvSpPr>
          <p:spPr>
            <a:xfrm>
              <a:off x="0" y="0"/>
              <a:ext cx="2057400" cy="4000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17"/>
            <p:cNvSpPr txBox="1"/>
            <p:nvPr/>
          </p:nvSpPr>
          <p:spPr>
            <a:xfrm>
              <a:off x="228600" y="266700"/>
              <a:ext cx="1600200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dashboard</a:t>
              </a:r>
              <a:endParaRPr sz="3200">
                <a:solidFill>
                  <a:srgbClr val="3D895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Counselors / APs / Principal</a:t>
              </a:r>
              <a:endParaRPr b="1" sz="20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3D8956"/>
                  </a:solidFill>
                  <a:latin typeface="Calibri"/>
                  <a:ea typeface="Calibri"/>
                  <a:cs typeface="Calibri"/>
                  <a:sym typeface="Calibri"/>
                </a:rPr>
                <a:t>Schoolwide + dashboard</a:t>
              </a:r>
              <a:endParaRPr b="1" sz="1200">
                <a:solidFill>
                  <a:srgbClr val="3D895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Coordinate schoolwide supports</a:t>
              </a:r>
              <a:endParaRPr b="0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4" name="Google Shape;634;p17"/>
          <p:cNvGrpSpPr/>
          <p:nvPr/>
        </p:nvGrpSpPr>
        <p:grpSpPr>
          <a:xfrm>
            <a:off x="9563100" y="1714500"/>
            <a:ext cx="2057400" cy="4000500"/>
            <a:chOff x="0" y="0"/>
            <a:chExt cx="2057400" cy="4000500"/>
          </a:xfrm>
        </p:grpSpPr>
        <p:sp>
          <p:nvSpPr>
            <p:cNvPr id="635" name="Google Shape;635;p17"/>
            <p:cNvSpPr/>
            <p:nvPr/>
          </p:nvSpPr>
          <p:spPr>
            <a:xfrm>
              <a:off x="0" y="0"/>
              <a:ext cx="2057400" cy="4000500"/>
            </a:xfrm>
            <a:prstGeom prst="roundRect">
              <a:avLst>
                <a:gd fmla="val 7407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17"/>
            <p:cNvSpPr/>
            <p:nvPr/>
          </p:nvSpPr>
          <p:spPr>
            <a:xfrm>
              <a:off x="0" y="0"/>
              <a:ext cx="57300" cy="4000500"/>
            </a:xfrm>
            <a:prstGeom prst="roundRect">
              <a:avLst>
                <a:gd fmla="val 50000" name="adj"/>
              </a:avLst>
            </a:prstGeom>
            <a:solidFill>
              <a:srgbClr val="BC4343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17"/>
            <p:cNvSpPr txBox="1"/>
            <p:nvPr/>
          </p:nvSpPr>
          <p:spPr>
            <a:xfrm>
              <a:off x="228600" y="266700"/>
              <a:ext cx="1600200" cy="34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BC434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3200">
                <a:solidFill>
                  <a:srgbClr val="BC434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Psychologist / Support</a:t>
              </a:r>
              <a:endParaRPr b="1" sz="1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1" lang="en-US" sz="1200">
                  <a:solidFill>
                    <a:srgbClr val="BC4343"/>
                  </a:solidFill>
                  <a:latin typeface="Calibri"/>
                  <a:ea typeface="Calibri"/>
                  <a:cs typeface="Calibri"/>
                  <a:sym typeface="Calibri"/>
                </a:rPr>
                <a:t>Cross-domain view</a:t>
              </a:r>
              <a:endParaRPr b="1" sz="1200">
                <a:solidFill>
                  <a:srgbClr val="BC434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b="0"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Coordinate intensive student supports</a:t>
              </a:r>
              <a:endParaRPr b="0"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38" name="Google Shape;638;p17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8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18"/>
          <p:cNvSpPr txBox="1"/>
          <p:nvPr/>
        </p:nvSpPr>
        <p:spPr>
          <a:xfrm>
            <a:off x="548640" y="347472"/>
            <a:ext cx="110643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How Power BI and the Intervention Spreadsheets Work Together</a:t>
            </a:r>
            <a:endParaRPr/>
          </a:p>
        </p:txBody>
      </p:sp>
      <p:sp>
        <p:nvSpPr>
          <p:cNvPr id="645" name="Google Shape;645;p18"/>
          <p:cNvSpPr txBox="1"/>
          <p:nvPr/>
        </p:nvSpPr>
        <p:spPr>
          <a:xfrm>
            <a:off x="566928" y="868680"/>
            <a:ext cx="1097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Decision support + operational action</a:t>
            </a:r>
            <a:endParaRPr sz="1900"/>
          </a:p>
        </p:txBody>
      </p:sp>
      <p:grpSp>
        <p:nvGrpSpPr>
          <p:cNvPr id="646" name="Google Shape;646;p18"/>
          <p:cNvGrpSpPr/>
          <p:nvPr/>
        </p:nvGrpSpPr>
        <p:grpSpPr>
          <a:xfrm>
            <a:off x="571500" y="1524000"/>
            <a:ext cx="5048400" cy="4000500"/>
            <a:chOff x="0" y="0"/>
            <a:chExt cx="5048400" cy="4000500"/>
          </a:xfrm>
        </p:grpSpPr>
        <p:sp>
          <p:nvSpPr>
            <p:cNvPr id="647" name="Google Shape;647;p18"/>
            <p:cNvSpPr/>
            <p:nvPr/>
          </p:nvSpPr>
          <p:spPr>
            <a:xfrm>
              <a:off x="0" y="0"/>
              <a:ext cx="5048400" cy="40005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18"/>
            <p:cNvSpPr/>
            <p:nvPr/>
          </p:nvSpPr>
          <p:spPr>
            <a:xfrm>
              <a:off x="0" y="0"/>
              <a:ext cx="5048400" cy="457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cubicBezTo>
                    <a:pt x="0" y="26863"/>
                    <a:pt x="2433" y="0"/>
                    <a:pt x="5434" y="0"/>
                  </a:cubicBezTo>
                  <a:lnTo>
                    <a:pt x="114566" y="0"/>
                  </a:lnTo>
                  <a:cubicBezTo>
                    <a:pt x="116007" y="0"/>
                    <a:pt x="117389" y="6321"/>
                    <a:pt x="118408" y="17573"/>
                  </a:cubicBezTo>
                  <a:cubicBezTo>
                    <a:pt x="119427" y="28826"/>
                    <a:pt x="120000" y="44087"/>
                    <a:pt x="120000" y="6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18"/>
            <p:cNvSpPr txBox="1"/>
            <p:nvPr/>
          </p:nvSpPr>
          <p:spPr>
            <a:xfrm>
              <a:off x="228600" y="95250"/>
              <a:ext cx="457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POWER BI — DECISION LAYER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0" name="Google Shape;650;p18"/>
            <p:cNvSpPr txBox="1"/>
            <p:nvPr/>
          </p:nvSpPr>
          <p:spPr>
            <a:xfrm>
              <a:off x="228600" y="666750"/>
              <a:ext cx="459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assessment</a:t>
              </a:r>
              <a:endParaRPr sz="119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Interactive school-level view</a:t>
              </a:r>
              <a:endParaRPr b="1" sz="136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High-level visual dashboard summarizing key performance metrics across schools.</a:t>
              </a:r>
              <a:endParaRPr sz="102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visibility</a:t>
              </a:r>
              <a:endParaRPr sz="119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Risk domain visibility</a:t>
              </a:r>
              <a:endParaRPr b="1" sz="136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Clear identification of vulnerabilities and trends across specific indicators.</a:t>
              </a:r>
              <a:endParaRPr sz="102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track_changes</a:t>
              </a:r>
              <a:endParaRPr sz="119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Tier and priority status</a:t>
              </a:r>
              <a:endParaRPr b="1" sz="136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Systematic prioritization of student needs to target resources effectively.</a:t>
              </a:r>
              <a:endParaRPr sz="102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7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190"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6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Monitoring &amp; leadership support</a:t>
              </a:r>
              <a:endParaRPr b="1" sz="136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102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Enabling administrative leaders to make data-informed strategic decisions.</a:t>
              </a:r>
              <a:endParaRPr sz="102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1" name="Google Shape;651;p18"/>
          <p:cNvSpPr/>
          <p:nvPr/>
        </p:nvSpPr>
        <p:spPr>
          <a:xfrm>
            <a:off x="5829300" y="3305175"/>
            <a:ext cx="533400" cy="533400"/>
          </a:xfrm>
          <a:prstGeom prst="ellipse">
            <a:avLst/>
          </a:prstGeom>
          <a:solidFill>
            <a:srgbClr val="F1F5F9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52" name="Google Shape;652;p18"/>
          <p:cNvGrpSpPr/>
          <p:nvPr/>
        </p:nvGrpSpPr>
        <p:grpSpPr>
          <a:xfrm>
            <a:off x="6572250" y="1524000"/>
            <a:ext cx="5048400" cy="4000500"/>
            <a:chOff x="0" y="0"/>
            <a:chExt cx="5048400" cy="4000500"/>
          </a:xfrm>
        </p:grpSpPr>
        <p:sp>
          <p:nvSpPr>
            <p:cNvPr id="653" name="Google Shape;653;p18"/>
            <p:cNvSpPr/>
            <p:nvPr/>
          </p:nvSpPr>
          <p:spPr>
            <a:xfrm>
              <a:off x="0" y="0"/>
              <a:ext cx="5048400" cy="4000500"/>
            </a:xfrm>
            <a:prstGeom prst="roundRect">
              <a:avLst>
                <a:gd fmla="val 5714" name="adj"/>
              </a:avLst>
            </a:prstGeom>
            <a:solidFill>
              <a:srgbClr val="F8FAFC"/>
            </a:solidFill>
            <a:ln cap="flat" cmpd="sng" w="1905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18"/>
            <p:cNvSpPr/>
            <p:nvPr/>
          </p:nvSpPr>
          <p:spPr>
            <a:xfrm>
              <a:off x="0" y="0"/>
              <a:ext cx="5048400" cy="45720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cubicBezTo>
                    <a:pt x="0" y="26863"/>
                    <a:pt x="2433" y="0"/>
                    <a:pt x="5434" y="0"/>
                  </a:cubicBezTo>
                  <a:lnTo>
                    <a:pt x="114566" y="0"/>
                  </a:lnTo>
                  <a:cubicBezTo>
                    <a:pt x="116007" y="0"/>
                    <a:pt x="117389" y="6321"/>
                    <a:pt x="118408" y="17573"/>
                  </a:cubicBezTo>
                  <a:cubicBezTo>
                    <a:pt x="119427" y="28826"/>
                    <a:pt x="120000" y="44087"/>
                    <a:pt x="120000" y="60000"/>
                  </a:cubicBezTo>
                  <a:lnTo>
                    <a:pt x="120000" y="120000"/>
                  </a:lnTo>
                  <a:lnTo>
                    <a:pt x="0" y="120000"/>
                  </a:lnTo>
                  <a:close/>
                </a:path>
              </a:pathLst>
            </a:cu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18"/>
            <p:cNvSpPr txBox="1"/>
            <p:nvPr/>
          </p:nvSpPr>
          <p:spPr>
            <a:xfrm>
              <a:off x="228600" y="95250"/>
              <a:ext cx="45720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ACTION CENTER — INTERVENTION LAYER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18"/>
            <p:cNvSpPr txBox="1"/>
            <p:nvPr/>
          </p:nvSpPr>
          <p:spPr>
            <a:xfrm>
              <a:off x="228600" y="666750"/>
              <a:ext cx="4591200" cy="304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folder_shared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Teacher intervention files</a:t>
              </a:r>
              <a:endParaRPr b="1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Direct student tracking and support plans managed by instructors.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description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Course &amp; Content-area master files</a:t>
              </a:r>
              <a:endParaRPr b="1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Centralized curricular resources and alignment mapping.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co_present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Schoolwide attendance &amp; behavior</a:t>
              </a:r>
              <a:endParaRPr b="1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Real-time campus-wide monitoring and culture initiatives.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assignment_turned_in</a:t>
              </a:r>
              <a:endParaRPr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Accessible action lists for support staff</a:t>
              </a:r>
              <a:endParaRPr b="1" sz="14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lang="en-US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Actionable tasks instantly distributed to the student support team.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57" name="Google Shape;657;p18"/>
          <p:cNvSpPr txBox="1"/>
          <p:nvPr/>
        </p:nvSpPr>
        <p:spPr>
          <a:xfrm>
            <a:off x="548640" y="6473952"/>
            <a:ext cx="16866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rPr>
              <a:t>MSTSS • Early Warning to Action •   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g3f8ae63ca14_114_892"/>
          <p:cNvSpPr txBox="1"/>
          <p:nvPr/>
        </p:nvSpPr>
        <p:spPr>
          <a:xfrm>
            <a:off x="952500" y="1047750"/>
            <a:ext cx="4953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6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1" sz="4600">
              <a:solidFill>
                <a:srgbClr val="1424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2D63AA"/>
                </a:solidFill>
                <a:latin typeface="Calibri"/>
                <a:ea typeface="Calibri"/>
                <a:cs typeface="Calibri"/>
                <a:sym typeface="Calibri"/>
              </a:rPr>
              <a:t>The MTSS Intervention System</a:t>
            </a:r>
            <a:endParaRPr b="1" sz="1800">
              <a:solidFill>
                <a:srgbClr val="2D63AA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-US" sz="12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A unified, connected framework that closes the loop from early warning indicators to structured, school-wide response paths.</a:t>
            </a:r>
            <a:endParaRPr b="0" sz="1250">
              <a:solidFill>
                <a:srgbClr val="47556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3" name="Google Shape;663;g3f8ae63ca14_114_892"/>
          <p:cNvGrpSpPr/>
          <p:nvPr/>
        </p:nvGrpSpPr>
        <p:grpSpPr>
          <a:xfrm>
            <a:off x="952500" y="2952750"/>
            <a:ext cx="4724400" cy="2190750"/>
            <a:chOff x="952500" y="2952750"/>
            <a:chExt cx="4724400" cy="2190750"/>
          </a:xfrm>
        </p:grpSpPr>
        <p:grpSp>
          <p:nvGrpSpPr>
            <p:cNvPr id="664" name="Google Shape;664;g3f8ae63ca14_114_892"/>
            <p:cNvGrpSpPr/>
            <p:nvPr/>
          </p:nvGrpSpPr>
          <p:grpSpPr>
            <a:xfrm>
              <a:off x="952500" y="2952750"/>
              <a:ext cx="4724400" cy="571500"/>
              <a:chOff x="0" y="0"/>
              <a:chExt cx="4724400" cy="571500"/>
            </a:xfrm>
          </p:grpSpPr>
          <p:sp>
            <p:nvSpPr>
              <p:cNvPr id="665" name="Google Shape;665;g3f8ae63ca14_114_892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E2ED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g3f8ae63ca14_114_892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2D63AA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insights</a:t>
                </a:r>
                <a:endParaRPr sz="20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67" name="Google Shape;667;g3f8ae63ca14_114_892"/>
              <p:cNvSpPr txBox="1"/>
              <p:nvPr/>
            </p:nvSpPr>
            <p:spPr>
              <a:xfrm>
                <a:off x="533400" y="0"/>
                <a:ext cx="419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95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Data-Driven Decisions</a:t>
                </a:r>
                <a:endParaRPr b="1" sz="1295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064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Evidence-based metrics instantly identify students requiring tier-based priority attention.</a:t>
                </a:r>
                <a:endParaRPr sz="1064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68" name="Google Shape;668;g3f8ae63ca14_114_892"/>
            <p:cNvGrpSpPr/>
            <p:nvPr/>
          </p:nvGrpSpPr>
          <p:grpSpPr>
            <a:xfrm>
              <a:off x="952500" y="3762375"/>
              <a:ext cx="4724400" cy="571500"/>
              <a:chOff x="0" y="0"/>
              <a:chExt cx="4724400" cy="571500"/>
            </a:xfrm>
          </p:grpSpPr>
          <p:sp>
            <p:nvSpPr>
              <p:cNvPr id="669" name="Google Shape;669;g3f8ae63ca14_114_892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FFF2E0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g3f8ae63ca14_114_892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D3912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assignment_turned_in</a:t>
                </a:r>
                <a:endParaRPr sz="2000">
                  <a:solidFill>
                    <a:srgbClr val="D3912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71" name="Google Shape;671;g3f8ae63ca14_114_892"/>
              <p:cNvSpPr txBox="1"/>
              <p:nvPr/>
            </p:nvSpPr>
            <p:spPr>
              <a:xfrm>
                <a:off x="533400" y="0"/>
                <a:ext cx="419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95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Actionable Interventions</a:t>
                </a:r>
                <a:endParaRPr b="1" sz="1295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064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Empowers teachers and support staff with targeted, course-specific action lists.</a:t>
                </a:r>
                <a:endParaRPr sz="1064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2" name="Google Shape;672;g3f8ae63ca14_114_892"/>
            <p:cNvGrpSpPr/>
            <p:nvPr/>
          </p:nvGrpSpPr>
          <p:grpSpPr>
            <a:xfrm>
              <a:off x="952500" y="4572000"/>
              <a:ext cx="4724400" cy="571500"/>
              <a:chOff x="0" y="0"/>
              <a:chExt cx="4724400" cy="571500"/>
            </a:xfrm>
          </p:grpSpPr>
          <p:sp>
            <p:nvSpPr>
              <p:cNvPr id="673" name="Google Shape;673;g3f8ae63ca14_114_892"/>
              <p:cNvSpPr/>
              <p:nvPr/>
            </p:nvSpPr>
            <p:spPr>
              <a:xfrm>
                <a:off x="0" y="0"/>
                <a:ext cx="3810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E1F2E7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g3f8ae63ca14_114_892"/>
              <p:cNvSpPr txBox="1"/>
              <p:nvPr/>
            </p:nvSpPr>
            <p:spPr>
              <a:xfrm>
                <a:off x="0" y="29210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3D8956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loop</a:t>
                </a:r>
                <a:endParaRPr sz="20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  <p:sp>
            <p:nvSpPr>
              <p:cNvPr id="675" name="Google Shape;675;g3f8ae63ca14_114_892"/>
              <p:cNvSpPr txBox="1"/>
              <p:nvPr/>
            </p:nvSpPr>
            <p:spPr>
              <a:xfrm>
                <a:off x="533400" y="0"/>
                <a:ext cx="419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295">
                    <a:solidFill>
                      <a:srgbClr val="1424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Closed-Loop Monitoring</a:t>
                </a:r>
                <a:endParaRPr b="1" sz="1295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150"/>
                  </a:spcBef>
                  <a:spcAft>
                    <a:spcPts val="0"/>
                  </a:spcAft>
                  <a:buNone/>
                </a:pPr>
                <a:r>
                  <a:rPr lang="en-US" sz="1064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Enables continuous review of response effectiveness and structured RTI execution.</a:t>
                </a:r>
                <a:endParaRPr sz="1064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76" name="Google Shape;676;g3f8ae63ca14_114_892"/>
          <p:cNvGrpSpPr/>
          <p:nvPr/>
        </p:nvGrpSpPr>
        <p:grpSpPr>
          <a:xfrm>
            <a:off x="548640" y="6473952"/>
            <a:ext cx="1686600" cy="215400"/>
            <a:chOff x="0" y="0"/>
            <a:chExt cx="1686600" cy="215400"/>
          </a:xfrm>
        </p:grpSpPr>
        <p:sp>
          <p:nvSpPr>
            <p:cNvPr id="677" name="Google Shape;677;g3f8ae63ca14_114_892"/>
            <p:cNvSpPr/>
            <p:nvPr/>
          </p:nvSpPr>
          <p:spPr>
            <a:xfrm>
              <a:off x="0" y="0"/>
              <a:ext cx="16866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g3f8ae63ca14_114_892"/>
            <p:cNvSpPr txBox="1"/>
            <p:nvPr/>
          </p:nvSpPr>
          <p:spPr>
            <a:xfrm>
              <a:off x="0" y="0"/>
              <a:ext cx="16866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MSTSS • Early Warning to Action •</a:t>
              </a:r>
              <a:endParaRPr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79" name="Google Shape;679;g3f8ae63ca14_114_892"/>
          <p:cNvGrpSpPr/>
          <p:nvPr/>
        </p:nvGrpSpPr>
        <p:grpSpPr>
          <a:xfrm>
            <a:off x="6667500" y="1047750"/>
            <a:ext cx="4572000" cy="4572000"/>
            <a:chOff x="0" y="0"/>
            <a:chExt cx="4572000" cy="4572000"/>
          </a:xfrm>
        </p:grpSpPr>
        <p:sp>
          <p:nvSpPr>
            <p:cNvPr id="680" name="Google Shape;680;g3f8ae63ca14_114_892"/>
            <p:cNvSpPr/>
            <p:nvPr/>
          </p:nvSpPr>
          <p:spPr>
            <a:xfrm>
              <a:off x="0" y="0"/>
              <a:ext cx="4572000" cy="4572000"/>
            </a:xfrm>
            <a:prstGeom prst="roundRect">
              <a:avLst>
                <a:gd fmla="val 4166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g3f8ae63ca14_114_892"/>
            <p:cNvSpPr/>
            <p:nvPr/>
          </p:nvSpPr>
          <p:spPr>
            <a:xfrm>
              <a:off x="0" y="0"/>
              <a:ext cx="76200" cy="4572000"/>
            </a:xfrm>
            <a:prstGeom prst="roundRect">
              <a:avLst>
                <a:gd fmla="val 50000" name="adj"/>
              </a:avLst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A professional, clean, and collaborative digital illustration of educators analyzing colorful dashboard analytics, representing school team collaboration and data-driven insights." id="682" name="Google Shape;682;g3f8ae63ca14_114_8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28600" y="228600"/>
              <a:ext cx="4114800" cy="3086100"/>
            </a:xfrm>
            <a:prstGeom prst="roundRect">
              <a:avLst>
                <a:gd fmla="val 3703" name="adj"/>
              </a:avLst>
            </a:prstGeom>
            <a:noFill/>
            <a:ln>
              <a:noFill/>
            </a:ln>
          </p:spPr>
        </p:pic>
        <p:sp>
          <p:nvSpPr>
            <p:cNvPr id="683" name="Google Shape;683;g3f8ae63ca14_114_892"/>
            <p:cNvSpPr txBox="1"/>
            <p:nvPr/>
          </p:nvSpPr>
          <p:spPr>
            <a:xfrm>
              <a:off x="228600" y="3543300"/>
              <a:ext cx="4114800" cy="8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95250" spcFirstLastPara="1" rIns="9525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5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"The goal is not simply to identify students at risk—it is to ensure the right people can act."</a:t>
              </a:r>
              <a:endParaRPr b="1" sz="15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8" name="Google Shape;688;g3f8ae63ca14_114_1110"/>
          <p:cNvGrpSpPr/>
          <p:nvPr/>
        </p:nvGrpSpPr>
        <p:grpSpPr>
          <a:xfrm>
            <a:off x="548640" y="347472"/>
            <a:ext cx="11064300" cy="522900"/>
            <a:chOff x="0" y="0"/>
            <a:chExt cx="11064300" cy="522900"/>
          </a:xfrm>
        </p:grpSpPr>
        <p:sp>
          <p:nvSpPr>
            <p:cNvPr id="689" name="Google Shape;689;g3f8ae63ca14_114_1110"/>
            <p:cNvSpPr/>
            <p:nvPr/>
          </p:nvSpPr>
          <p:spPr>
            <a:xfrm>
              <a:off x="0" y="0"/>
              <a:ext cx="11064300" cy="522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g3f8ae63ca14_114_1110"/>
            <p:cNvSpPr txBox="1"/>
            <p:nvPr/>
          </p:nvSpPr>
          <p:spPr>
            <a:xfrm>
              <a:off x="0" y="0"/>
              <a:ext cx="11064300" cy="52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8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Contact Information</a:t>
              </a:r>
              <a:endParaRPr b="1" sz="28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1" name="Google Shape;691;g3f8ae63ca14_114_1110"/>
          <p:cNvGrpSpPr/>
          <p:nvPr/>
        </p:nvGrpSpPr>
        <p:grpSpPr>
          <a:xfrm>
            <a:off x="566928" y="868680"/>
            <a:ext cx="10972800" cy="292500"/>
            <a:chOff x="0" y="0"/>
            <a:chExt cx="10972800" cy="292500"/>
          </a:xfrm>
        </p:grpSpPr>
        <p:sp>
          <p:nvSpPr>
            <p:cNvPr id="692" name="Google Shape;692;g3f8ae63ca14_114_1110"/>
            <p:cNvSpPr/>
            <p:nvPr/>
          </p:nvSpPr>
          <p:spPr>
            <a:xfrm>
              <a:off x="0" y="0"/>
              <a:ext cx="10972800" cy="292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g3f8ae63ca14_114_1110"/>
            <p:cNvSpPr txBox="1"/>
            <p:nvPr/>
          </p:nvSpPr>
          <p:spPr>
            <a:xfrm>
              <a:off x="0" y="0"/>
              <a:ext cx="10972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3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Reach out for data analytics support, system integration, and collaboration</a:t>
              </a:r>
              <a:endParaRPr b="0" sz="13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94" name="Google Shape;694;g3f8ae63ca14_114_1110"/>
          <p:cNvSpPr/>
          <p:nvPr/>
        </p:nvSpPr>
        <p:spPr>
          <a:xfrm>
            <a:off x="548640" y="1207008"/>
            <a:ext cx="1097400" cy="54900"/>
          </a:xfrm>
          <a:prstGeom prst="rect">
            <a:avLst/>
          </a:prstGeom>
          <a:solidFill>
            <a:srgbClr val="2D63A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95" name="Google Shape;695;g3f8ae63ca14_114_1110"/>
          <p:cNvGrpSpPr/>
          <p:nvPr/>
        </p:nvGrpSpPr>
        <p:grpSpPr>
          <a:xfrm>
            <a:off x="1714500" y="1714500"/>
            <a:ext cx="4000500" cy="3619500"/>
            <a:chOff x="0" y="0"/>
            <a:chExt cx="4000500" cy="3619500"/>
          </a:xfrm>
        </p:grpSpPr>
        <p:sp>
          <p:nvSpPr>
            <p:cNvPr id="696" name="Google Shape;696;g3f8ae63ca14_114_1110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g3f8ae63ca14_114_1110"/>
            <p:cNvSpPr/>
            <p:nvPr/>
          </p:nvSpPr>
          <p:spPr>
            <a:xfrm>
              <a:off x="0" y="0"/>
              <a:ext cx="76200" cy="3619500"/>
            </a:xfrm>
            <a:prstGeom prst="roundRect">
              <a:avLst>
                <a:gd fmla="val 50000" name="adj"/>
              </a:avLst>
            </a:prstGeom>
            <a:solidFill>
              <a:srgbClr val="2D63A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g3f8ae63ca14_114_1110"/>
            <p:cNvSpPr txBox="1"/>
            <p:nvPr/>
          </p:nvSpPr>
          <p:spPr>
            <a:xfrm>
              <a:off x="304800" y="381000"/>
              <a:ext cx="33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2D63AA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badge</a:t>
              </a:r>
              <a:endParaRPr sz="3600">
                <a:solidFill>
                  <a:srgbClr val="2D63AA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Kenier Ramirez</a:t>
              </a:r>
              <a:endParaRPr b="1" sz="2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D63AA"/>
                  </a:solidFill>
                  <a:latin typeface="Calibri"/>
                  <a:ea typeface="Calibri"/>
                  <a:cs typeface="Calibri"/>
                  <a:sym typeface="Calibri"/>
                </a:rPr>
                <a:t>M.Sc. in Data Analytics</a:t>
              </a:r>
              <a:endParaRPr b="1" sz="1400">
                <a:solidFill>
                  <a:srgbClr val="2D63AA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Specializing in early warning systems, school-level performance indicators, and data-driven student support frameworks within the MTSS ecosystem.</a:t>
              </a:r>
              <a:endParaRPr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9" name="Google Shape;699;g3f8ae63ca14_114_1110"/>
          <p:cNvGrpSpPr/>
          <p:nvPr/>
        </p:nvGrpSpPr>
        <p:grpSpPr>
          <a:xfrm>
            <a:off x="6477000" y="1714500"/>
            <a:ext cx="4000500" cy="3619500"/>
            <a:chOff x="0" y="0"/>
            <a:chExt cx="4000500" cy="3619500"/>
          </a:xfrm>
        </p:grpSpPr>
        <p:sp>
          <p:nvSpPr>
            <p:cNvPr id="700" name="Google Shape;700;g3f8ae63ca14_114_1110"/>
            <p:cNvSpPr/>
            <p:nvPr/>
          </p:nvSpPr>
          <p:spPr>
            <a:xfrm>
              <a:off x="0" y="0"/>
              <a:ext cx="4000500" cy="3619500"/>
            </a:xfrm>
            <a:prstGeom prst="roundRect">
              <a:avLst>
                <a:gd fmla="val 4210" name="adj"/>
              </a:avLst>
            </a:prstGeom>
            <a:solidFill>
              <a:srgbClr val="F8FAFC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g3f8ae63ca14_114_1110"/>
            <p:cNvSpPr/>
            <p:nvPr/>
          </p:nvSpPr>
          <p:spPr>
            <a:xfrm>
              <a:off x="0" y="0"/>
              <a:ext cx="76200" cy="3619500"/>
            </a:xfrm>
            <a:prstGeom prst="roundRect">
              <a:avLst>
                <a:gd fmla="val 50000" name="adj"/>
              </a:avLst>
            </a:prstGeom>
            <a:solidFill>
              <a:srgbClr val="3D895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g3f8ae63ca14_114_1110"/>
            <p:cNvSpPr txBox="1"/>
            <p:nvPr/>
          </p:nvSpPr>
          <p:spPr>
            <a:xfrm>
              <a:off x="304800" y="381000"/>
              <a:ext cx="3390900" cy="2857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3D8956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alternate_email</a:t>
              </a:r>
              <a:endParaRPr sz="3600">
                <a:solidFill>
                  <a:srgbClr val="3D8956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en-US" sz="24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Get in Touch</a:t>
              </a:r>
              <a:endParaRPr b="1" sz="24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3D8956"/>
                  </a:solidFill>
                  <a:latin typeface="Calibri"/>
                  <a:ea typeface="Calibri"/>
                  <a:cs typeface="Calibri"/>
                  <a:sym typeface="Calibri"/>
                </a:rPr>
                <a:t>Email Contact</a:t>
              </a:r>
              <a:endParaRPr b="1" sz="1400">
                <a:solidFill>
                  <a:srgbClr val="3D895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14243D"/>
                  </a:solidFill>
                  <a:latin typeface="Calibri"/>
                  <a:ea typeface="Calibri"/>
                  <a:cs typeface="Calibri"/>
                  <a:sym typeface="Calibri"/>
                </a:rPr>
                <a:t>kenier.ramirezlopez@palmbeachschools.org</a:t>
              </a:r>
              <a:endParaRPr b="1" sz="1300">
                <a:solidFill>
                  <a:srgbClr val="14243D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en-US" sz="115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Reach out for technical support, integration guidance, or assistance with dashboards and spreadsheets.</a:t>
              </a:r>
              <a:endParaRPr sz="11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3" name="Google Shape;703;g3f8ae63ca14_114_1110"/>
          <p:cNvGrpSpPr/>
          <p:nvPr/>
        </p:nvGrpSpPr>
        <p:grpSpPr>
          <a:xfrm>
            <a:off x="548640" y="6473952"/>
            <a:ext cx="2857500" cy="215400"/>
            <a:chOff x="0" y="0"/>
            <a:chExt cx="2857500" cy="215400"/>
          </a:xfrm>
        </p:grpSpPr>
        <p:sp>
          <p:nvSpPr>
            <p:cNvPr id="704" name="Google Shape;704;g3f8ae63ca14_114_1110"/>
            <p:cNvSpPr/>
            <p:nvPr/>
          </p:nvSpPr>
          <p:spPr>
            <a:xfrm>
              <a:off x="0" y="0"/>
              <a:ext cx="2857500" cy="215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g3f8ae63ca14_114_1110"/>
            <p:cNvSpPr txBox="1"/>
            <p:nvPr/>
          </p:nvSpPr>
          <p:spPr>
            <a:xfrm>
              <a:off x="0" y="0"/>
              <a:ext cx="28575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800">
                  <a:solidFill>
                    <a:srgbClr val="66707A"/>
                  </a:solidFill>
                  <a:latin typeface="Calibri"/>
                  <a:ea typeface="Calibri"/>
                  <a:cs typeface="Calibri"/>
                  <a:sym typeface="Calibri"/>
                </a:rPr>
                <a:t>MSTSS • Early Warning to Action •</a:t>
              </a:r>
              <a:endParaRPr b="0" sz="800">
                <a:solidFill>
                  <a:srgbClr val="66707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MSTSS</dc:creator>
</cp:coreProperties>
</file>